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Revenue (Rs.)</c:v>
                </c:pt>
              </c:strCache>
            </c:strRef>
          </c:tx>
          <c:spPr>
            <a:ln w="38100" cap="flat">
              <a:solidFill>
                <a:srgbClr val="B85042"/>
              </a:solidFill>
              <a:prstDash val="solid"/>
              <a:round/>
            </a:ln>
            <a:effectLst/>
          </c:spPr>
          <c:marker>
            <c:symbol val="circle"/>
            <c:size val="6"/>
            <c:spPr>
              <a:solidFill>
                <a:srgbClr val="B85042"/>
              </a:solidFill>
              <a:ln w="9525" cap="flat">
                <a:solidFill>
                  <a:srgbClr val="B85042"/>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1724598</c:v>
                </c:pt>
                <c:pt idx="1">
                  <c:v>1754073</c:v>
                </c:pt>
                <c:pt idx="2">
                  <c:v>1825897</c:v>
                </c:pt>
                <c:pt idx="3">
                  <c:v>1718065</c:v>
                </c:pt>
                <c:pt idx="4">
                  <c:v>1694325</c:v>
                </c:pt>
                <c:pt idx="5">
                  <c:v>1622338</c:v>
                </c:pt>
                <c:pt idx="6">
                  <c:v>1640566</c:v>
                </c:pt>
                <c:pt idx="7">
                  <c:v>1684916</c:v>
                </c:pt>
                <c:pt idx="8">
                  <c:v>1585016</c:v>
                </c:pt>
                <c:pt idx="9">
                  <c:v>1513971</c:v>
                </c:pt>
                <c:pt idx="10">
                  <c:v>1462714</c:v>
                </c:pt>
                <c:pt idx="11">
                  <c:v>1484065</c:v>
                </c:pt>
              </c:numCache>
            </c:numRef>
          </c:val>
          <c:smooth val="0"/>
          <c:extLst>
            <c:ext xmlns:c16="http://schemas.microsoft.com/office/drawing/2014/chart" uri="{C3380CC4-5D6E-409C-BE32-E72D297353CC}">
              <c16:uniqueId val="{00000000-4577-4A57-BD3B-CC199CC7945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Change (Rs.)</c:v>
                </c:pt>
              </c:strCache>
            </c:strRef>
          </c:tx>
          <c:spPr>
            <a:solidFill>
              <a:srgbClr val="B85042"/>
            </a:solidFill>
            <a:effectLst/>
          </c:spPr>
          <c:invertIfNegative val="0"/>
          <c:dPt>
            <c:idx val="0"/>
            <c:invertIfNegative val="0"/>
            <c:bubble3D val="0"/>
            <c:extLst>
              <c:ext xmlns:c16="http://schemas.microsoft.com/office/drawing/2014/chart" uri="{C3380CC4-5D6E-409C-BE32-E72D297353CC}">
                <c16:uniqueId val="{00000001-F808-4444-93DF-0F864FA7FEAB}"/>
              </c:ext>
            </c:extLst>
          </c:dPt>
          <c:dPt>
            <c:idx val="1"/>
            <c:invertIfNegative val="0"/>
            <c:bubble3D val="0"/>
            <c:extLst>
              <c:ext xmlns:c16="http://schemas.microsoft.com/office/drawing/2014/chart" uri="{C3380CC4-5D6E-409C-BE32-E72D297353CC}">
                <c16:uniqueId val="{00000003-F808-4444-93DF-0F864FA7FEAB}"/>
              </c:ext>
            </c:extLst>
          </c:dPt>
          <c:dPt>
            <c:idx val="2"/>
            <c:invertIfNegative val="0"/>
            <c:bubble3D val="0"/>
            <c:spPr>
              <a:solidFill>
                <a:srgbClr val="D4896A"/>
              </a:solidFill>
              <a:effectLst/>
            </c:spPr>
            <c:extLst>
              <c:ext xmlns:c16="http://schemas.microsoft.com/office/drawing/2014/chart" uri="{C3380CC4-5D6E-409C-BE32-E72D297353CC}">
                <c16:uniqueId val="{00000005-F808-4444-93DF-0F864FA7FEAB}"/>
              </c:ext>
            </c:extLst>
          </c:dPt>
          <c:dPt>
            <c:idx val="3"/>
            <c:invertIfNegative val="0"/>
            <c:bubble3D val="0"/>
            <c:spPr>
              <a:solidFill>
                <a:srgbClr val="D4896A"/>
              </a:solidFill>
              <a:effectLst/>
            </c:spPr>
            <c:extLst>
              <c:ext xmlns:c16="http://schemas.microsoft.com/office/drawing/2014/chart" uri="{C3380CC4-5D6E-409C-BE32-E72D297353CC}">
                <c16:uniqueId val="{00000007-F808-4444-93DF-0F864FA7FEAB}"/>
              </c:ext>
            </c:extLst>
          </c:dPt>
          <c:dPt>
            <c:idx val="4"/>
            <c:invertIfNegative val="0"/>
            <c:bubble3D val="0"/>
            <c:spPr>
              <a:solidFill>
                <a:srgbClr val="E8B8A8"/>
              </a:solidFill>
              <a:effectLst/>
            </c:spPr>
            <c:extLst>
              <c:ext xmlns:c16="http://schemas.microsoft.com/office/drawing/2014/chart" uri="{C3380CC4-5D6E-409C-BE32-E72D297353CC}">
                <c16:uniqueId val="{00000009-F808-4444-93DF-0F864FA7FEAB}"/>
              </c:ext>
            </c:extLst>
          </c:dPt>
          <c:dPt>
            <c:idx val="5"/>
            <c:invertIfNegative val="0"/>
            <c:bubble3D val="0"/>
            <c:spPr>
              <a:solidFill>
                <a:srgbClr val="E8B8A8"/>
              </a:solidFill>
              <a:effectLst/>
            </c:spPr>
            <c:extLst>
              <c:ext xmlns:c16="http://schemas.microsoft.com/office/drawing/2014/chart" uri="{C3380CC4-5D6E-409C-BE32-E72D297353CC}">
                <c16:uniqueId val="{0000000B-F808-4444-93DF-0F864FA7FEAB}"/>
              </c:ext>
            </c:extLst>
          </c:dPt>
          <c:dPt>
            <c:idx val="6"/>
            <c:invertIfNegative val="0"/>
            <c:bubble3D val="0"/>
            <c:spPr>
              <a:solidFill>
                <a:srgbClr val="0F7B3D"/>
              </a:solidFill>
              <a:effectLst/>
            </c:spPr>
            <c:extLst>
              <c:ext xmlns:c16="http://schemas.microsoft.com/office/drawing/2014/chart" uri="{C3380CC4-5D6E-409C-BE32-E72D297353CC}">
                <c16:uniqueId val="{0000000D-F808-4444-93DF-0F864FA7FEAB}"/>
              </c:ext>
            </c:extLst>
          </c:dPt>
          <c:dLbls>
            <c:dLbl>
              <c:idx val="4"/>
              <c:layout>
                <c:manualLayout>
                  <c:x val="6.038647342995174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808-4444-93DF-0F864FA7FEAB}"/>
                </c:ext>
              </c:extLst>
            </c:dLbl>
            <c:dLbl>
              <c:idx val="5"/>
              <c:layout>
                <c:manualLayout>
                  <c:x val="3.0193236714975844E-2"/>
                  <c:y val="4.960317460317437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808-4444-93DF-0F864FA7FEAB}"/>
                </c:ext>
              </c:extLst>
            </c:dLbl>
            <c:numFmt formatCode="#,##0" sourceLinked="0"/>
            <c:spPr>
              <a:noFill/>
              <a:ln>
                <a:noFill/>
              </a:ln>
              <a:effectLst/>
            </c:spPr>
            <c:txPr>
              <a:bodyPr/>
              <a:lstStyle/>
              <a:p>
                <a:pPr>
                  <a:defRPr sz="900" b="0" i="0" u="none" strike="noStrike">
                    <a:solidFill>
                      <a:srgbClr val="1F386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Amazon</c:v>
                </c:pt>
                <c:pt idx="1">
                  <c:v>Myntra</c:v>
                </c:pt>
                <c:pt idx="2">
                  <c:v>Flipkart</c:v>
                </c:pt>
                <c:pt idx="3">
                  <c:v>Nalli</c:v>
                </c:pt>
                <c:pt idx="4">
                  <c:v>Meesho</c:v>
                </c:pt>
                <c:pt idx="5">
                  <c:v>Ajio</c:v>
                </c:pt>
                <c:pt idx="6">
                  <c:v>Others</c:v>
                </c:pt>
              </c:strCache>
            </c:strRef>
          </c:cat>
          <c:val>
            <c:numRef>
              <c:f>Sheet1!$B$2:$B$8</c:f>
              <c:numCache>
                <c:formatCode>General</c:formatCode>
                <c:ptCount val="7"/>
                <c:pt idx="0">
                  <c:v>-142698</c:v>
                </c:pt>
                <c:pt idx="1">
                  <c:v>-118618</c:v>
                </c:pt>
                <c:pt idx="2">
                  <c:v>-43447</c:v>
                </c:pt>
                <c:pt idx="3">
                  <c:v>-35262</c:v>
                </c:pt>
                <c:pt idx="4">
                  <c:v>-14123</c:v>
                </c:pt>
                <c:pt idx="5">
                  <c:v>-12267</c:v>
                </c:pt>
                <c:pt idx="6">
                  <c:v>3232</c:v>
                </c:pt>
              </c:numCache>
            </c:numRef>
          </c:val>
          <c:extLst>
            <c:ext xmlns:c16="http://schemas.microsoft.com/office/drawing/2014/chart" uri="{C3380CC4-5D6E-409C-BE32-E72D297353CC}">
              <c16:uniqueId val="{0000000E-F808-4444-93DF-0F864FA7FE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0E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Change (Rs.)</c:v>
                </c:pt>
              </c:strCache>
            </c:strRef>
          </c:tx>
          <c:spPr>
            <a:solidFill>
              <a:srgbClr val="1F3864"/>
            </a:solidFill>
            <a:effectLst/>
          </c:spPr>
          <c:invertIfNegative val="0"/>
          <c:dPt>
            <c:idx val="0"/>
            <c:invertIfNegative val="0"/>
            <c:bubble3D val="0"/>
            <c:extLst>
              <c:ext xmlns:c16="http://schemas.microsoft.com/office/drawing/2014/chart" uri="{C3380CC4-5D6E-409C-BE32-E72D297353CC}">
                <c16:uniqueId val="{00000001-F1AA-4EA9-9B83-D7C9E8A051EA}"/>
              </c:ext>
            </c:extLst>
          </c:dPt>
          <c:dPt>
            <c:idx val="1"/>
            <c:invertIfNegative val="0"/>
            <c:bubble3D val="0"/>
            <c:spPr>
              <a:solidFill>
                <a:srgbClr val="2F5496"/>
              </a:solidFill>
              <a:effectLst/>
            </c:spPr>
            <c:extLst>
              <c:ext xmlns:c16="http://schemas.microsoft.com/office/drawing/2014/chart" uri="{C3380CC4-5D6E-409C-BE32-E72D297353CC}">
                <c16:uniqueId val="{00000003-F1AA-4EA9-9B83-D7C9E8A051EA}"/>
              </c:ext>
            </c:extLst>
          </c:dPt>
          <c:dPt>
            <c:idx val="2"/>
            <c:invertIfNegative val="0"/>
            <c:bubble3D val="0"/>
            <c:spPr>
              <a:solidFill>
                <a:srgbClr val="8899CC"/>
              </a:solidFill>
              <a:effectLst/>
            </c:spPr>
            <c:extLst>
              <c:ext xmlns:c16="http://schemas.microsoft.com/office/drawing/2014/chart" uri="{C3380CC4-5D6E-409C-BE32-E72D297353CC}">
                <c16:uniqueId val="{00000005-F1AA-4EA9-9B83-D7C9E8A051EA}"/>
              </c:ext>
            </c:extLst>
          </c:dPt>
          <c:dPt>
            <c:idx val="3"/>
            <c:invertIfNegative val="0"/>
            <c:bubble3D val="0"/>
            <c:spPr>
              <a:solidFill>
                <a:srgbClr val="AABBDD"/>
              </a:solidFill>
              <a:effectLst/>
            </c:spPr>
            <c:extLst>
              <c:ext xmlns:c16="http://schemas.microsoft.com/office/drawing/2014/chart" uri="{C3380CC4-5D6E-409C-BE32-E72D297353CC}">
                <c16:uniqueId val="{00000007-F1AA-4EA9-9B83-D7C9E8A051EA}"/>
              </c:ext>
            </c:extLst>
          </c:dPt>
          <c:dPt>
            <c:idx val="4"/>
            <c:invertIfNegative val="0"/>
            <c:bubble3D val="0"/>
            <c:spPr>
              <a:solidFill>
                <a:srgbClr val="CADCFC"/>
              </a:solidFill>
              <a:effectLst/>
            </c:spPr>
            <c:extLst>
              <c:ext xmlns:c16="http://schemas.microsoft.com/office/drawing/2014/chart" uri="{C3380CC4-5D6E-409C-BE32-E72D297353CC}">
                <c16:uniqueId val="{00000009-F1AA-4EA9-9B83-D7C9E8A051EA}"/>
              </c:ext>
            </c:extLst>
          </c:dPt>
          <c:dPt>
            <c:idx val="5"/>
            <c:invertIfNegative val="0"/>
            <c:bubble3D val="0"/>
            <c:spPr>
              <a:solidFill>
                <a:srgbClr val="E0E8F5"/>
              </a:solidFill>
              <a:effectLst/>
            </c:spPr>
            <c:extLst>
              <c:ext xmlns:c16="http://schemas.microsoft.com/office/drawing/2014/chart" uri="{C3380CC4-5D6E-409C-BE32-E72D297353CC}">
                <c16:uniqueId val="{0000000B-F1AA-4EA9-9B83-D7C9E8A051EA}"/>
              </c:ext>
            </c:extLst>
          </c:dPt>
          <c:dPt>
            <c:idx val="6"/>
            <c:invertIfNegative val="0"/>
            <c:bubble3D val="0"/>
            <c:spPr>
              <a:solidFill>
                <a:srgbClr val="0F7B3D"/>
              </a:solidFill>
              <a:effectLst/>
            </c:spPr>
            <c:extLst>
              <c:ext xmlns:c16="http://schemas.microsoft.com/office/drawing/2014/chart" uri="{C3380CC4-5D6E-409C-BE32-E72D297353CC}">
                <c16:uniqueId val="{0000000D-F1AA-4EA9-9B83-D7C9E8A051EA}"/>
              </c:ext>
            </c:extLst>
          </c:dPt>
          <c:dLbls>
            <c:dLbl>
              <c:idx val="2"/>
              <c:layout>
                <c:manualLayout>
                  <c:x val="0.21437198067632851"/>
                  <c:y val="-9.920634920634920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1AA-4EA9-9B83-D7C9E8A051EA}"/>
                </c:ext>
              </c:extLst>
            </c:dLbl>
            <c:dLbl>
              <c:idx val="3"/>
              <c:layout>
                <c:manualLayout>
                  <c:x val="0.11171521358743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1AA-4EA9-9B83-D7C9E8A051EA}"/>
                </c:ext>
              </c:extLst>
            </c:dLbl>
            <c:dLbl>
              <c:idx val="4"/>
              <c:layout>
                <c:manualLayout>
                  <c:x val="0.10869565217391304"/>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1AA-4EA9-9B83-D7C9E8A051EA}"/>
                </c:ext>
              </c:extLst>
            </c:dLbl>
            <c:dLbl>
              <c:idx val="5"/>
              <c:layout>
                <c:manualLayout>
                  <c:x val="0.18719806763285024"/>
                  <c:y val="4.960317460317437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1AA-4EA9-9B83-D7C9E8A051EA}"/>
                </c:ext>
              </c:extLst>
            </c:dLbl>
            <c:numFmt formatCode="#,##0" sourceLinked="0"/>
            <c:spPr>
              <a:noFill/>
              <a:ln>
                <a:noFill/>
              </a:ln>
              <a:effectLst/>
            </c:spPr>
            <c:txPr>
              <a:bodyPr/>
              <a:lstStyle/>
              <a:p>
                <a:pPr>
                  <a:defRPr sz="900" b="0" i="0" u="none" strike="noStrike">
                    <a:solidFill>
                      <a:srgbClr val="1F386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Set</c:v>
                </c:pt>
                <c:pt idx="1">
                  <c:v>kurta</c:v>
                </c:pt>
                <c:pt idx="2">
                  <c:v>Western Dress</c:v>
                </c:pt>
                <c:pt idx="3">
                  <c:v>Saree</c:v>
                </c:pt>
                <c:pt idx="4">
                  <c:v>Blouse</c:v>
                </c:pt>
                <c:pt idx="5">
                  <c:v>Ethnic Dress</c:v>
                </c:pt>
                <c:pt idx="6">
                  <c:v>Bottom</c:v>
                </c:pt>
              </c:strCache>
            </c:strRef>
          </c:cat>
          <c:val>
            <c:numRef>
              <c:f>Sheet1!$B$2:$B$8</c:f>
              <c:numCache>
                <c:formatCode>General</c:formatCode>
                <c:ptCount val="7"/>
                <c:pt idx="0">
                  <c:v>-230285</c:v>
                </c:pt>
                <c:pt idx="1">
                  <c:v>-123501</c:v>
                </c:pt>
                <c:pt idx="2">
                  <c:v>-6348</c:v>
                </c:pt>
                <c:pt idx="3">
                  <c:v>-4393</c:v>
                </c:pt>
                <c:pt idx="4">
                  <c:v>-4166</c:v>
                </c:pt>
                <c:pt idx="5">
                  <c:v>-3889</c:v>
                </c:pt>
                <c:pt idx="6">
                  <c:v>2161</c:v>
                </c:pt>
              </c:numCache>
            </c:numRef>
          </c:val>
          <c:extLst>
            <c:ext xmlns:c16="http://schemas.microsoft.com/office/drawing/2014/chart" uri="{C3380CC4-5D6E-409C-BE32-E72D297353CC}">
              <c16:uniqueId val="{0000000E-F1AA-4EA9-9B83-D7C9E8A051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0E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March Revenue (Rs.)</c:v>
                </c:pt>
              </c:strCache>
            </c:strRef>
          </c:tx>
          <c:spPr>
            <a:solidFill>
              <a:srgbClr val="B85042"/>
            </a:solidFill>
            <a:effectLst/>
          </c:spPr>
          <c:invertIfNegative val="0"/>
          <c:cat>
            <c:strRef>
              <c:f>Sheet1!$A$2:$A$7</c:f>
              <c:strCache>
                <c:ptCount val="6"/>
                <c:pt idx="0">
                  <c:v>Women Teen</c:v>
                </c:pt>
                <c:pt idx="1">
                  <c:v>Women Adult</c:v>
                </c:pt>
                <c:pt idx="2">
                  <c:v>Women Senior</c:v>
                </c:pt>
                <c:pt idx="3">
                  <c:v>Men Senior</c:v>
                </c:pt>
                <c:pt idx="4">
                  <c:v>Men Adult</c:v>
                </c:pt>
                <c:pt idx="5">
                  <c:v>Men Teen</c:v>
                </c:pt>
              </c:strCache>
            </c:strRef>
          </c:cat>
          <c:val>
            <c:numRef>
              <c:f>Sheet1!$B$2:$B$7</c:f>
              <c:numCache>
                <c:formatCode>General</c:formatCode>
                <c:ptCount val="6"/>
                <c:pt idx="0">
                  <c:v>408341</c:v>
                </c:pt>
                <c:pt idx="1">
                  <c:v>611002</c:v>
                </c:pt>
                <c:pt idx="2">
                  <c:v>247773</c:v>
                </c:pt>
                <c:pt idx="3">
                  <c:v>112782</c:v>
                </c:pt>
                <c:pt idx="4">
                  <c:v>275580</c:v>
                </c:pt>
                <c:pt idx="5">
                  <c:v>170419</c:v>
                </c:pt>
              </c:numCache>
            </c:numRef>
          </c:val>
          <c:extLst>
            <c:ext xmlns:c16="http://schemas.microsoft.com/office/drawing/2014/chart" uri="{C3380CC4-5D6E-409C-BE32-E72D297353CC}">
              <c16:uniqueId val="{00000000-5C83-44BB-9B8A-2C9EE5CE47C8}"/>
            </c:ext>
          </c:extLst>
        </c:ser>
        <c:ser>
          <c:idx val="1"/>
          <c:order val="1"/>
          <c:tx>
            <c:strRef>
              <c:f>Sheet1!$C$1</c:f>
              <c:strCache>
                <c:ptCount val="1"/>
                <c:pt idx="0">
                  <c:v>November Revenue (Rs.)</c:v>
                </c:pt>
              </c:strCache>
            </c:strRef>
          </c:tx>
          <c:spPr>
            <a:solidFill>
              <a:srgbClr val="F0C8A0"/>
            </a:solidFill>
            <a:effectLst/>
          </c:spPr>
          <c:invertIfNegative val="0"/>
          <c:cat>
            <c:strRef>
              <c:f>Sheet1!$A$2:$A$7</c:f>
              <c:strCache>
                <c:ptCount val="6"/>
                <c:pt idx="0">
                  <c:v>Women Teen</c:v>
                </c:pt>
                <c:pt idx="1">
                  <c:v>Women Adult</c:v>
                </c:pt>
                <c:pt idx="2">
                  <c:v>Women Senior</c:v>
                </c:pt>
                <c:pt idx="3">
                  <c:v>Men Senior</c:v>
                </c:pt>
                <c:pt idx="4">
                  <c:v>Men Adult</c:v>
                </c:pt>
                <c:pt idx="5">
                  <c:v>Men Teen</c:v>
                </c:pt>
              </c:strCache>
            </c:strRef>
          </c:cat>
          <c:val>
            <c:numRef>
              <c:f>Sheet1!$C$2:$C$7</c:f>
              <c:numCache>
                <c:formatCode>General</c:formatCode>
                <c:ptCount val="6"/>
                <c:pt idx="0">
                  <c:v>286874</c:v>
                </c:pt>
                <c:pt idx="1">
                  <c:v>464165</c:v>
                </c:pt>
                <c:pt idx="2">
                  <c:v>191393</c:v>
                </c:pt>
                <c:pt idx="3">
                  <c:v>104051</c:v>
                </c:pt>
                <c:pt idx="4">
                  <c:v>254549</c:v>
                </c:pt>
                <c:pt idx="5">
                  <c:v>161682</c:v>
                </c:pt>
              </c:numCache>
            </c:numRef>
          </c:val>
          <c:extLst>
            <c:ext xmlns:c16="http://schemas.microsoft.com/office/drawing/2014/chart" uri="{C3380CC4-5D6E-409C-BE32-E72D297353CC}">
              <c16:uniqueId val="{00000001-5C83-44BB-9B8A-2C9EE5CE47C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Women Revenue Loss (Rs.)</c:v>
                </c:pt>
              </c:strCache>
            </c:strRef>
          </c:tx>
          <c:spPr>
            <a:solidFill>
              <a:srgbClr val="B85042"/>
            </a:solidFill>
            <a:effectLst/>
          </c:spPr>
          <c:invertIfNegative val="0"/>
          <c:dPt>
            <c:idx val="0"/>
            <c:invertIfNegative val="0"/>
            <c:bubble3D val="0"/>
            <c:extLst>
              <c:ext xmlns:c16="http://schemas.microsoft.com/office/drawing/2014/chart" uri="{C3380CC4-5D6E-409C-BE32-E72D297353CC}">
                <c16:uniqueId val="{00000001-E8F4-4D5B-AD87-7B2BC4DB59AC}"/>
              </c:ext>
            </c:extLst>
          </c:dPt>
          <c:dPt>
            <c:idx val="1"/>
            <c:invertIfNegative val="0"/>
            <c:bubble3D val="0"/>
            <c:extLst>
              <c:ext xmlns:c16="http://schemas.microsoft.com/office/drawing/2014/chart" uri="{C3380CC4-5D6E-409C-BE32-E72D297353CC}">
                <c16:uniqueId val="{00000003-E8F4-4D5B-AD87-7B2BC4DB59AC}"/>
              </c:ext>
            </c:extLst>
          </c:dPt>
          <c:dPt>
            <c:idx val="2"/>
            <c:invertIfNegative val="0"/>
            <c:bubble3D val="0"/>
            <c:spPr>
              <a:solidFill>
                <a:srgbClr val="D4896A"/>
              </a:solidFill>
              <a:effectLst/>
            </c:spPr>
            <c:extLst>
              <c:ext xmlns:c16="http://schemas.microsoft.com/office/drawing/2014/chart" uri="{C3380CC4-5D6E-409C-BE32-E72D297353CC}">
                <c16:uniqueId val="{00000005-E8F4-4D5B-AD87-7B2BC4DB59AC}"/>
              </c:ext>
            </c:extLst>
          </c:dPt>
          <c:dPt>
            <c:idx val="3"/>
            <c:invertIfNegative val="0"/>
            <c:bubble3D val="0"/>
            <c:spPr>
              <a:solidFill>
                <a:srgbClr val="D4896A"/>
              </a:solidFill>
              <a:effectLst/>
            </c:spPr>
            <c:extLst>
              <c:ext xmlns:c16="http://schemas.microsoft.com/office/drawing/2014/chart" uri="{C3380CC4-5D6E-409C-BE32-E72D297353CC}">
                <c16:uniqueId val="{00000007-E8F4-4D5B-AD87-7B2BC4DB59AC}"/>
              </c:ext>
            </c:extLst>
          </c:dPt>
          <c:dPt>
            <c:idx val="4"/>
            <c:invertIfNegative val="0"/>
            <c:bubble3D val="0"/>
            <c:spPr>
              <a:solidFill>
                <a:srgbClr val="E8B8A8"/>
              </a:solidFill>
              <a:effectLst/>
            </c:spPr>
            <c:extLst>
              <c:ext xmlns:c16="http://schemas.microsoft.com/office/drawing/2014/chart" uri="{C3380CC4-5D6E-409C-BE32-E72D297353CC}">
                <c16:uniqueId val="{00000009-E8F4-4D5B-AD87-7B2BC4DB59AC}"/>
              </c:ext>
            </c:extLst>
          </c:dPt>
          <c:dPt>
            <c:idx val="5"/>
            <c:invertIfNegative val="0"/>
            <c:bubble3D val="0"/>
            <c:spPr>
              <a:solidFill>
                <a:srgbClr val="E8B8A8"/>
              </a:solidFill>
              <a:effectLst/>
            </c:spPr>
            <c:extLst>
              <c:ext xmlns:c16="http://schemas.microsoft.com/office/drawing/2014/chart" uri="{C3380CC4-5D6E-409C-BE32-E72D297353CC}">
                <c16:uniqueId val="{0000000B-E8F4-4D5B-AD87-7B2BC4DB59AC}"/>
              </c:ext>
            </c:extLst>
          </c:dPt>
          <c:dPt>
            <c:idx val="6"/>
            <c:invertIfNegative val="0"/>
            <c:bubble3D val="0"/>
            <c:spPr>
              <a:solidFill>
                <a:srgbClr val="F0D0C8"/>
              </a:solidFill>
              <a:effectLst/>
            </c:spPr>
            <c:extLst>
              <c:ext xmlns:c16="http://schemas.microsoft.com/office/drawing/2014/chart" uri="{C3380CC4-5D6E-409C-BE32-E72D297353CC}">
                <c16:uniqueId val="{0000000D-E8F4-4D5B-AD87-7B2BC4DB59AC}"/>
              </c:ext>
            </c:extLst>
          </c:dPt>
          <c:dLbls>
            <c:dLbl>
              <c:idx val="6"/>
              <c:layout>
                <c:manualLayout>
                  <c:x val="4.7892720306513412E-2"/>
                  <c:y val="-3.96825396825395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8F4-4D5B-AD87-7B2BC4DB59AC}"/>
                </c:ext>
              </c:extLst>
            </c:dLbl>
            <c:numFmt formatCode="#,##0" sourceLinked="0"/>
            <c:spPr>
              <a:noFill/>
              <a:ln>
                <a:noFill/>
              </a:ln>
              <a:effectLst/>
            </c:spPr>
            <c:txPr>
              <a:bodyPr/>
              <a:lstStyle/>
              <a:p>
                <a:pPr>
                  <a:defRPr sz="1000" b="0" i="0" u="none" strike="noStrike">
                    <a:solidFill>
                      <a:srgbClr val="1F386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Myntra</c:v>
                </c:pt>
                <c:pt idx="1">
                  <c:v>Amazon</c:v>
                </c:pt>
                <c:pt idx="2">
                  <c:v>Flipkart</c:v>
                </c:pt>
                <c:pt idx="3">
                  <c:v>Nalli</c:v>
                </c:pt>
                <c:pt idx="4">
                  <c:v>Ajio</c:v>
                </c:pt>
                <c:pt idx="5">
                  <c:v>Others</c:v>
                </c:pt>
                <c:pt idx="6">
                  <c:v>Meesho</c:v>
                </c:pt>
              </c:strCache>
            </c:strRef>
          </c:cat>
          <c:val>
            <c:numRef>
              <c:f>Sheet1!$B$2:$B$8</c:f>
              <c:numCache>
                <c:formatCode>General</c:formatCode>
                <c:ptCount val="7"/>
                <c:pt idx="0">
                  <c:v>-112219</c:v>
                </c:pt>
                <c:pt idx="1">
                  <c:v>-89490</c:v>
                </c:pt>
                <c:pt idx="2">
                  <c:v>-47248</c:v>
                </c:pt>
                <c:pt idx="3">
                  <c:v>-34203</c:v>
                </c:pt>
                <c:pt idx="4">
                  <c:v>-21419</c:v>
                </c:pt>
                <c:pt idx="5">
                  <c:v>-11910</c:v>
                </c:pt>
                <c:pt idx="6">
                  <c:v>-8195</c:v>
                </c:pt>
              </c:numCache>
            </c:numRef>
          </c:val>
          <c:extLst>
            <c:ext xmlns:c16="http://schemas.microsoft.com/office/drawing/2014/chart" uri="{C3380CC4-5D6E-409C-BE32-E72D297353CC}">
              <c16:uniqueId val="{0000000E-E8F4-4D5B-AD87-7B2BC4DB59A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0E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701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Vrinda Store is an Indian e-commerce retailer selling across Amazon, Myntra, Flipkart, Ajio, Meesho, and Nalli. Revenue dropped 20% in eight months. The question is why, and what to do about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the investigation. The trend is clear and </a:t>
            </a:r>
            <a:r>
              <a:rPr lang="en-US"/>
              <a:t>steady - </a:t>
            </a:r>
            <a:r>
              <a:rPr lang="en-US" dirty="0"/>
              <a:t>not a one-month blip. Important to note: average order value held flat the whole year. This rules out pricing as the cause. Something about demand changed, not price.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2 and 3 of the investigation. The geographic narrowing: we go from the full business to two channels, then to two categories. Set and kurta together account for 97% of the absolute loss. Every other category is noise. The story is ethnic wear on the big marketplaces.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a:t>
            </a:r>
            <a:r>
              <a:rPr lang="en-US"/>
              <a:t>4 - </a:t>
            </a:r>
            <a:r>
              <a:rPr lang="en-US" dirty="0"/>
              <a:t>the central finding. Every women's age group dropped 22-30%. Every men's age group dropped only 5-8%. This is a 3-to-4x difference. This is not broad market softness. Women customers specifically left. Men largely stayed.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a:t>
            </a:r>
            <a:r>
              <a:rPr lang="en-US"/>
              <a:t>6 - </a:t>
            </a:r>
            <a:r>
              <a:rPr lang="en-US" dirty="0"/>
              <a:t>stress test. The question is whether the women-customer decline is random or concentrated. Answer: concentrated. Myntra alone is Rs.112K of women's monthly </a:t>
            </a:r>
            <a:r>
              <a:rPr lang="en-US"/>
              <a:t>loss - </a:t>
            </a:r>
            <a:r>
              <a:rPr lang="en-US" dirty="0"/>
              <a:t>the largest single number in the entire analysis. Amazon is Rs.89K. Together they are 62% of the women-segment problem. The fix is now specific enough to execute.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ordered by impact. Recommendation 1 is the </a:t>
            </a:r>
            <a:r>
              <a:rPr lang="en-US"/>
              <a:t>clearest - </a:t>
            </a:r>
            <a:r>
              <a:rPr lang="en-US" dirty="0"/>
              <a:t>specific channel, specific segment, specific category, large absolute number. Recommendation 2 same playbook. Recommendation 3 is the research step before scaling </a:t>
            </a:r>
            <a:r>
              <a:rPr lang="en-US"/>
              <a:t>spend - </a:t>
            </a:r>
            <a:r>
              <a:rPr lang="en-US" dirty="0"/>
              <a:t>important to not spend without understanding the root cause. Recommendation 4 is a watch-what-is-working signal that most people would ignore.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story with the number that matters to leadership: Rs.2M annual recovery from one focused campaign targeting women customers on Myntra and Amazon in ethnic wear categories. This is conservative. The math is laid out clearly. Then summarize the investigation method in one </a:t>
            </a:r>
            <a:r>
              <a:rPr lang="en-US"/>
              <a:t>line - </a:t>
            </a:r>
            <a:r>
              <a:rPr lang="en-US" dirty="0"/>
              <a:t>this shows you have a repeatable process, not just luck.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github.com/Vickytoria-lab"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6126480" y="22860"/>
            <a:ext cx="2890911" cy="2811780"/>
          </a:xfrm>
          <a:prstGeom prst="ellipse">
            <a:avLst/>
          </a:prstGeom>
          <a:solidFill>
            <a:srgbClr val="B85042">
              <a:alpha val="30000"/>
            </a:srgbClr>
          </a:solidFill>
          <a:ln w="12700">
            <a:solidFill>
              <a:srgbClr val="B85042">
                <a:alpha val="30000"/>
              </a:srgbClr>
            </a:solidFill>
            <a:prstDash val="solid"/>
          </a:ln>
        </p:spPr>
      </p:sp>
      <p:sp>
        <p:nvSpPr>
          <p:cNvPr id="3" name="Shape 1"/>
          <p:cNvSpPr/>
          <p:nvPr/>
        </p:nvSpPr>
        <p:spPr>
          <a:xfrm>
            <a:off x="6974058" y="3246120"/>
            <a:ext cx="1779563" cy="1828800"/>
          </a:xfrm>
          <a:prstGeom prst="ellipse">
            <a:avLst/>
          </a:prstGeom>
          <a:solidFill>
            <a:srgbClr val="C9960C">
              <a:alpha val="25000"/>
            </a:srgbClr>
          </a:solidFill>
          <a:ln w="12700">
            <a:solidFill>
              <a:srgbClr val="C9960C">
                <a:alpha val="25000"/>
              </a:srgbClr>
            </a:solidFill>
            <a:prstDash val="solid"/>
          </a:ln>
        </p:spPr>
      </p:sp>
      <p:sp>
        <p:nvSpPr>
          <p:cNvPr id="4" name="Text 2"/>
          <p:cNvSpPr/>
          <p:nvPr/>
        </p:nvSpPr>
        <p:spPr>
          <a:xfrm>
            <a:off x="548640" y="914400"/>
            <a:ext cx="6858000" cy="91440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Vrinda Store</a:t>
            </a:r>
            <a:endParaRPr lang="en-US" sz="5200" dirty="0"/>
          </a:p>
        </p:txBody>
      </p:sp>
      <p:sp>
        <p:nvSpPr>
          <p:cNvPr id="5" name="Text 3"/>
          <p:cNvSpPr/>
          <p:nvPr/>
        </p:nvSpPr>
        <p:spPr>
          <a:xfrm>
            <a:off x="548640" y="1783080"/>
            <a:ext cx="7315200" cy="594360"/>
          </a:xfrm>
          <a:prstGeom prst="rect">
            <a:avLst/>
          </a:prstGeom>
          <a:noFill/>
          <a:ln/>
        </p:spPr>
        <p:txBody>
          <a:bodyPr wrap="square" rtlCol="0" anchor="ctr"/>
          <a:lstStyle/>
          <a:p>
            <a:pPr marL="0" indent="0">
              <a:buNone/>
            </a:pPr>
            <a:r>
              <a:rPr lang="en-US" sz="2800" dirty="0">
                <a:solidFill>
                  <a:srgbClr val="F0C8A0"/>
                </a:solidFill>
                <a:latin typeface="Calibri" pitchFamily="34" charset="0"/>
                <a:ea typeface="Calibri" pitchFamily="34" charset="-122"/>
                <a:cs typeface="Calibri" pitchFamily="34" charset="-120"/>
              </a:rPr>
              <a:t>Revenue Decline Root Cause Analysis</a:t>
            </a:r>
            <a:endParaRPr lang="en-US" sz="2800" dirty="0"/>
          </a:p>
        </p:txBody>
      </p:sp>
      <p:sp>
        <p:nvSpPr>
          <p:cNvPr id="7" name="Text 5"/>
          <p:cNvSpPr/>
          <p:nvPr/>
        </p:nvSpPr>
        <p:spPr>
          <a:xfrm>
            <a:off x="548640" y="2697480"/>
            <a:ext cx="6858000" cy="77724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Why did revenue fall 20% from March to November 2022,</a:t>
            </a:r>
            <a:endParaRPr lang="en-US" sz="1400" dirty="0"/>
          </a:p>
          <a:p>
            <a:pPr marL="0" indent="0">
              <a:buNone/>
            </a:pPr>
            <a:r>
              <a:rPr lang="en-US" sz="1400" i="1" dirty="0">
                <a:solidFill>
                  <a:srgbClr val="CADCFC"/>
                </a:solidFill>
                <a:latin typeface="Calibri" pitchFamily="34" charset="0"/>
                <a:ea typeface="Calibri" pitchFamily="34" charset="-122"/>
                <a:cs typeface="Calibri" pitchFamily="34" charset="-120"/>
              </a:rPr>
              <a:t>and what should Vrinda do about it?</a:t>
            </a:r>
            <a:endParaRPr lang="en-US" sz="1400" dirty="0"/>
          </a:p>
        </p:txBody>
      </p:sp>
      <p:sp>
        <p:nvSpPr>
          <p:cNvPr id="8" name="Text 6"/>
          <p:cNvSpPr/>
          <p:nvPr/>
        </p:nvSpPr>
        <p:spPr>
          <a:xfrm>
            <a:off x="548640" y="3886200"/>
            <a:ext cx="6400800" cy="7315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Victoria Johnson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Revenue Operations Analyst  |  MySQL · Power BI · Excel</a:t>
            </a:r>
            <a:endParaRPr lang="en-US" sz="1300" dirty="0"/>
          </a:p>
        </p:txBody>
      </p:sp>
      <p:sp>
        <p:nvSpPr>
          <p:cNvPr id="9" name="Text 7"/>
          <p:cNvSpPr/>
          <p:nvPr/>
        </p:nvSpPr>
        <p:spPr>
          <a:xfrm>
            <a:off x="548640" y="4663440"/>
            <a:ext cx="7315200" cy="274320"/>
          </a:xfrm>
          <a:prstGeom prst="rect">
            <a:avLst/>
          </a:prstGeom>
          <a:noFill/>
          <a:ln/>
        </p:spPr>
        <p:txBody>
          <a:bodyPr wrap="square" rtlCol="0" anchor="ctr"/>
          <a:lstStyle/>
          <a:p>
            <a:pPr marL="0" indent="0">
              <a:buNone/>
            </a:pPr>
            <a:r>
              <a:rPr lang="en-US" sz="1000" dirty="0">
                <a:solidFill>
                  <a:srgbClr val="8899BB"/>
                </a:solidFill>
                <a:latin typeface="Calibri" pitchFamily="34" charset="0"/>
                <a:ea typeface="Calibri" pitchFamily="34" charset="-122"/>
                <a:cs typeface="Calibri" pitchFamily="34" charset="-120"/>
              </a:rPr>
              <a:t>Dataset: 31,047 delivered orders  |  Vrinda Store, India  |  January to December 2022</a:t>
            </a:r>
            <a:endParaRPr lang="en-US" sz="1000" dirty="0"/>
          </a:p>
        </p:txBody>
      </p:sp>
      <p:cxnSp>
        <p:nvCxnSpPr>
          <p:cNvPr id="11" name="Straight Connector 10">
            <a:extLst>
              <a:ext uri="{FF2B5EF4-FFF2-40B4-BE49-F238E27FC236}">
                <a16:creationId xmlns:a16="http://schemas.microsoft.com/office/drawing/2014/main" id="{F61E3F07-82C3-0D6A-11BC-4D6E2CF5A0DA}"/>
              </a:ext>
            </a:extLst>
          </p:cNvPr>
          <p:cNvCxnSpPr>
            <a:cxnSpLocks/>
          </p:cNvCxnSpPr>
          <p:nvPr/>
        </p:nvCxnSpPr>
        <p:spPr>
          <a:xfrm flipV="1">
            <a:off x="548640" y="2446020"/>
            <a:ext cx="5401994" cy="1758"/>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3643"/>
            <a:ext cx="8229600" cy="469861"/>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The Shape of the Decline</a:t>
            </a:r>
            <a:endParaRPr lang="en-US" sz="2200" dirty="0"/>
          </a:p>
        </p:txBody>
      </p:sp>
      <p:sp>
        <p:nvSpPr>
          <p:cNvPr id="3" name="Text 1"/>
          <p:cNvSpPr/>
          <p:nvPr/>
        </p:nvSpPr>
        <p:spPr>
          <a:xfrm>
            <a:off x="457200" y="530352"/>
            <a:ext cx="8229600" cy="402336"/>
          </a:xfrm>
          <a:prstGeom prst="rect">
            <a:avLst/>
          </a:prstGeom>
          <a:noFill/>
          <a:ln/>
        </p:spPr>
        <p:txBody>
          <a:bodyPr wrap="square" rtlCol="0" anchor="ctr"/>
          <a:lstStyle/>
          <a:p>
            <a:pPr marL="0" indent="0">
              <a:buNone/>
            </a:pPr>
            <a:r>
              <a:rPr lang="en-US" sz="1100" i="1" dirty="0">
                <a:solidFill>
                  <a:srgbClr val="595959"/>
                </a:solidFill>
                <a:latin typeface="Calibri" pitchFamily="34" charset="0"/>
                <a:ea typeface="Calibri" pitchFamily="34" charset="-122"/>
                <a:cs typeface="Calibri" pitchFamily="34" charset="-120"/>
              </a:rPr>
              <a:t>Revenue fell steadily from March to November, while average order value remained relatively stable. This suggests pricing was unlikely to be the primary driver.</a:t>
            </a:r>
            <a:endParaRPr lang="en-US" sz="1100" dirty="0"/>
          </a:p>
        </p:txBody>
      </p:sp>
      <p:sp>
        <p:nvSpPr>
          <p:cNvPr id="4" name="Shape 2"/>
          <p:cNvSpPr/>
          <p:nvPr/>
        </p:nvSpPr>
        <p:spPr>
          <a:xfrm>
            <a:off x="365760" y="1005840"/>
            <a:ext cx="2651760" cy="1188720"/>
          </a:xfrm>
          <a:prstGeom prst="roundRect">
            <a:avLst>
              <a:gd name="adj" fmla="val 6154"/>
            </a:avLst>
          </a:prstGeom>
          <a:solidFill>
            <a:srgbClr val="F4F4F4"/>
          </a:solidFill>
          <a:ln w="12700">
            <a:solidFill>
              <a:srgbClr val="F4F4F4"/>
            </a:solidFill>
            <a:prstDash val="solid"/>
          </a:ln>
          <a:effectLst>
            <a:outerShdw blurRad="101600" dist="25400" dir="2700000" algn="bl" rotWithShape="0">
              <a:srgbClr val="000000">
                <a:alpha val="10000"/>
              </a:srgbClr>
            </a:outerShdw>
          </a:effectLst>
        </p:spPr>
      </p:sp>
      <p:sp>
        <p:nvSpPr>
          <p:cNvPr id="5" name="Text 3"/>
          <p:cNvSpPr/>
          <p:nvPr/>
        </p:nvSpPr>
        <p:spPr>
          <a:xfrm>
            <a:off x="475488" y="1078992"/>
            <a:ext cx="2423160" cy="256032"/>
          </a:xfrm>
          <a:prstGeom prst="rect">
            <a:avLst/>
          </a:prstGeom>
          <a:noFill/>
          <a:ln/>
        </p:spPr>
        <p:txBody>
          <a:bodyPr wrap="square" rtlCol="0" anchor="ctr"/>
          <a:lstStyle/>
          <a:p>
            <a:pPr marL="0" indent="0">
              <a:buNone/>
            </a:pPr>
            <a:r>
              <a:rPr lang="en-US" sz="950" b="1" dirty="0">
                <a:solidFill>
                  <a:srgbClr val="595959"/>
                </a:solidFill>
                <a:latin typeface="Calibri" pitchFamily="34" charset="0"/>
                <a:ea typeface="Calibri" pitchFamily="34" charset="-122"/>
                <a:cs typeface="Calibri" pitchFamily="34" charset="-120"/>
              </a:rPr>
              <a:t>March Peak Revenue</a:t>
            </a:r>
            <a:endParaRPr lang="en-US" sz="950" dirty="0"/>
          </a:p>
        </p:txBody>
      </p:sp>
      <p:sp>
        <p:nvSpPr>
          <p:cNvPr id="6" name="Text 4"/>
          <p:cNvSpPr/>
          <p:nvPr/>
        </p:nvSpPr>
        <p:spPr>
          <a:xfrm>
            <a:off x="475488" y="1316736"/>
            <a:ext cx="2423160" cy="502920"/>
          </a:xfrm>
          <a:prstGeom prst="rect">
            <a:avLst/>
          </a:prstGeom>
          <a:noFill/>
          <a:ln/>
        </p:spPr>
        <p:txBody>
          <a:bodyPr wrap="square"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Rs.1.83M</a:t>
            </a:r>
            <a:endParaRPr lang="en-US" sz="2600" dirty="0"/>
          </a:p>
        </p:txBody>
      </p:sp>
      <p:sp>
        <p:nvSpPr>
          <p:cNvPr id="7" name="Text 5"/>
          <p:cNvSpPr/>
          <p:nvPr/>
        </p:nvSpPr>
        <p:spPr>
          <a:xfrm>
            <a:off x="475488" y="1810512"/>
            <a:ext cx="2423160" cy="256032"/>
          </a:xfrm>
          <a:prstGeom prst="rect">
            <a:avLst/>
          </a:prstGeom>
          <a:noFill/>
          <a:ln/>
        </p:spPr>
        <p:txBody>
          <a:bodyPr wrap="square" rtlCol="0" anchor="ctr"/>
          <a:lstStyle/>
          <a:p>
            <a:pPr marL="0" indent="0">
              <a:buNone/>
            </a:pPr>
            <a:r>
              <a:rPr lang="en-US" sz="900" dirty="0">
                <a:solidFill>
                  <a:srgbClr val="595959"/>
                </a:solidFill>
                <a:latin typeface="Calibri" pitchFamily="34" charset="0"/>
                <a:ea typeface="Calibri" pitchFamily="34" charset="-122"/>
                <a:cs typeface="Calibri" pitchFamily="34" charset="-120"/>
              </a:rPr>
              <a:t>Highest month of 2022</a:t>
            </a:r>
            <a:endParaRPr lang="en-US" sz="900" dirty="0"/>
          </a:p>
        </p:txBody>
      </p:sp>
      <p:sp>
        <p:nvSpPr>
          <p:cNvPr id="8" name="Shape 6"/>
          <p:cNvSpPr/>
          <p:nvPr/>
        </p:nvSpPr>
        <p:spPr>
          <a:xfrm>
            <a:off x="3246120" y="1005840"/>
            <a:ext cx="2651760" cy="1188720"/>
          </a:xfrm>
          <a:prstGeom prst="roundRect">
            <a:avLst>
              <a:gd name="adj" fmla="val 6154"/>
            </a:avLst>
          </a:prstGeom>
          <a:solidFill>
            <a:srgbClr val="B85042"/>
          </a:solidFill>
          <a:ln w="12700">
            <a:solidFill>
              <a:srgbClr val="B85042"/>
            </a:solidFill>
            <a:prstDash val="solid"/>
          </a:ln>
          <a:effectLst>
            <a:outerShdw blurRad="101600" dist="25400" dir="2700000" algn="bl" rotWithShape="0">
              <a:srgbClr val="000000">
                <a:alpha val="10000"/>
              </a:srgbClr>
            </a:outerShdw>
          </a:effectLst>
        </p:spPr>
      </p:sp>
      <p:sp>
        <p:nvSpPr>
          <p:cNvPr id="9" name="Text 7"/>
          <p:cNvSpPr/>
          <p:nvPr/>
        </p:nvSpPr>
        <p:spPr>
          <a:xfrm>
            <a:off x="3355848" y="1078992"/>
            <a:ext cx="2423160" cy="256032"/>
          </a:xfrm>
          <a:prstGeom prst="rect">
            <a:avLst/>
          </a:prstGeom>
          <a:noFill/>
          <a:ln/>
        </p:spPr>
        <p:txBody>
          <a:bodyPr wrap="square" rtlCol="0" anchor="ctr"/>
          <a:lstStyle/>
          <a:p>
            <a:pPr marL="0" indent="0">
              <a:buNone/>
            </a:pPr>
            <a:r>
              <a:rPr lang="en-US" sz="950" b="1" dirty="0">
                <a:solidFill>
                  <a:srgbClr val="F0C8A0"/>
                </a:solidFill>
                <a:latin typeface="Calibri" pitchFamily="34" charset="0"/>
                <a:ea typeface="Calibri" pitchFamily="34" charset="-122"/>
                <a:cs typeface="Calibri" pitchFamily="34" charset="-120"/>
              </a:rPr>
              <a:t>November Low Revenue</a:t>
            </a:r>
            <a:endParaRPr lang="en-US" sz="950" dirty="0"/>
          </a:p>
        </p:txBody>
      </p:sp>
      <p:sp>
        <p:nvSpPr>
          <p:cNvPr id="10" name="Text 8"/>
          <p:cNvSpPr/>
          <p:nvPr/>
        </p:nvSpPr>
        <p:spPr>
          <a:xfrm>
            <a:off x="3355848" y="1316736"/>
            <a:ext cx="242316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Rs.1.46M</a:t>
            </a:r>
            <a:endParaRPr lang="en-US" sz="2600" dirty="0"/>
          </a:p>
        </p:txBody>
      </p:sp>
      <p:sp>
        <p:nvSpPr>
          <p:cNvPr id="11" name="Text 9"/>
          <p:cNvSpPr/>
          <p:nvPr/>
        </p:nvSpPr>
        <p:spPr>
          <a:xfrm>
            <a:off x="3355848" y="1810512"/>
            <a:ext cx="2423160" cy="256032"/>
          </a:xfrm>
          <a:prstGeom prst="rect">
            <a:avLst/>
          </a:prstGeom>
          <a:noFill/>
          <a:ln/>
        </p:spPr>
        <p:txBody>
          <a:bodyPr wrap="square" rtlCol="0" anchor="ctr"/>
          <a:lstStyle/>
          <a:p>
            <a:pPr marL="0" indent="0">
              <a:buNone/>
            </a:pPr>
            <a:r>
              <a:rPr lang="en-US" sz="900" dirty="0">
                <a:solidFill>
                  <a:srgbClr val="F0C8A0"/>
                </a:solidFill>
                <a:latin typeface="Calibri" pitchFamily="34" charset="0"/>
                <a:ea typeface="Calibri" pitchFamily="34" charset="-122"/>
                <a:cs typeface="Calibri" pitchFamily="34" charset="-120"/>
              </a:rPr>
              <a:t>Lowest month of 2022</a:t>
            </a:r>
            <a:endParaRPr lang="en-US" sz="900" dirty="0"/>
          </a:p>
        </p:txBody>
      </p:sp>
      <p:sp>
        <p:nvSpPr>
          <p:cNvPr id="12" name="Shape 10"/>
          <p:cNvSpPr/>
          <p:nvPr/>
        </p:nvSpPr>
        <p:spPr>
          <a:xfrm>
            <a:off x="6126480" y="1005840"/>
            <a:ext cx="2651760" cy="1188720"/>
          </a:xfrm>
          <a:prstGeom prst="roundRect">
            <a:avLst>
              <a:gd name="adj" fmla="val 6154"/>
            </a:avLst>
          </a:prstGeom>
          <a:solidFill>
            <a:srgbClr val="F4F4F4"/>
          </a:solidFill>
          <a:ln w="12700">
            <a:solidFill>
              <a:srgbClr val="F4F4F4"/>
            </a:solidFill>
            <a:prstDash val="solid"/>
          </a:ln>
          <a:effectLst>
            <a:outerShdw blurRad="101600" dist="25400" dir="2700000" algn="bl" rotWithShape="0">
              <a:srgbClr val="000000">
                <a:alpha val="10000"/>
              </a:srgbClr>
            </a:outerShdw>
          </a:effectLst>
        </p:spPr>
      </p:sp>
      <p:sp>
        <p:nvSpPr>
          <p:cNvPr id="13" name="Text 11"/>
          <p:cNvSpPr/>
          <p:nvPr/>
        </p:nvSpPr>
        <p:spPr>
          <a:xfrm>
            <a:off x="6236208" y="1078992"/>
            <a:ext cx="2423160" cy="256032"/>
          </a:xfrm>
          <a:prstGeom prst="rect">
            <a:avLst/>
          </a:prstGeom>
          <a:noFill/>
          <a:ln/>
        </p:spPr>
        <p:txBody>
          <a:bodyPr wrap="square" rtlCol="0" anchor="ctr"/>
          <a:lstStyle/>
          <a:p>
            <a:pPr marL="0" indent="0">
              <a:buNone/>
            </a:pPr>
            <a:r>
              <a:rPr lang="en-US" sz="950" b="1" dirty="0">
                <a:solidFill>
                  <a:srgbClr val="595959"/>
                </a:solidFill>
                <a:latin typeface="Calibri" pitchFamily="34" charset="0"/>
                <a:ea typeface="Calibri" pitchFamily="34" charset="-122"/>
                <a:cs typeface="Calibri" pitchFamily="34" charset="-120"/>
              </a:rPr>
              <a:t>Avg Order Value</a:t>
            </a:r>
            <a:endParaRPr lang="en-US" sz="950" dirty="0"/>
          </a:p>
        </p:txBody>
      </p:sp>
      <p:sp>
        <p:nvSpPr>
          <p:cNvPr id="14" name="Text 12"/>
          <p:cNvSpPr/>
          <p:nvPr/>
        </p:nvSpPr>
        <p:spPr>
          <a:xfrm>
            <a:off x="6236208" y="1316736"/>
            <a:ext cx="2423160" cy="502920"/>
          </a:xfrm>
          <a:prstGeom prst="rect">
            <a:avLst/>
          </a:prstGeom>
          <a:noFill/>
          <a:ln/>
        </p:spPr>
        <p:txBody>
          <a:bodyPr wrap="square" rtlCol="0" anchor="ctr"/>
          <a:lstStyle/>
          <a:p>
            <a:pPr marL="0" indent="0">
              <a:buNone/>
            </a:pPr>
            <a:r>
              <a:rPr lang="en-US" sz="2600" b="1" dirty="0">
                <a:solidFill>
                  <a:srgbClr val="1F3864"/>
                </a:solidFill>
                <a:latin typeface="Calibri" pitchFamily="34" charset="0"/>
                <a:ea typeface="Calibri" pitchFamily="34" charset="-122"/>
                <a:cs typeface="Calibri" pitchFamily="34" charset="-120"/>
              </a:rPr>
              <a:t>Rs.776</a:t>
            </a:r>
            <a:endParaRPr lang="en-US" sz="2600" dirty="0"/>
          </a:p>
        </p:txBody>
      </p:sp>
      <p:sp>
        <p:nvSpPr>
          <p:cNvPr id="15" name="Text 13"/>
          <p:cNvSpPr/>
          <p:nvPr/>
        </p:nvSpPr>
        <p:spPr>
          <a:xfrm>
            <a:off x="6236208" y="1810512"/>
            <a:ext cx="2423160" cy="256032"/>
          </a:xfrm>
          <a:prstGeom prst="rect">
            <a:avLst/>
          </a:prstGeom>
          <a:noFill/>
          <a:ln/>
        </p:spPr>
        <p:txBody>
          <a:bodyPr wrap="square" rtlCol="0" anchor="ctr"/>
          <a:lstStyle/>
          <a:p>
            <a:pPr marL="0" indent="0">
              <a:buNone/>
            </a:pPr>
            <a:r>
              <a:rPr lang="en-US" sz="900" dirty="0">
                <a:solidFill>
                  <a:srgbClr val="595959"/>
                </a:solidFill>
                <a:latin typeface="Calibri" pitchFamily="34" charset="0"/>
                <a:ea typeface="Calibri" pitchFamily="34" charset="-122"/>
                <a:cs typeface="Calibri" pitchFamily="34" charset="-120"/>
              </a:rPr>
              <a:t>Held flat all year</a:t>
            </a:r>
            <a:endParaRPr lang="en-US" sz="900" dirty="0"/>
          </a:p>
        </p:txBody>
      </p:sp>
      <p:graphicFrame>
        <p:nvGraphicFramePr>
          <p:cNvPr id="16" name="Chart 0"/>
          <p:cNvGraphicFramePr/>
          <p:nvPr/>
        </p:nvGraphicFramePr>
        <p:xfrm>
          <a:off x="365760" y="2377440"/>
          <a:ext cx="548640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6035040" y="2377440"/>
            <a:ext cx="2834640" cy="1143000"/>
          </a:xfrm>
          <a:prstGeom prst="roundRect">
            <a:avLst>
              <a:gd name="adj" fmla="val 6400"/>
            </a:avLst>
          </a:prstGeom>
          <a:solidFill>
            <a:srgbClr val="F4F4F4"/>
          </a:solidFill>
          <a:ln w="12700">
            <a:solidFill>
              <a:srgbClr val="F4F4F4"/>
            </a:solidFill>
            <a:prstDash val="solid"/>
          </a:ln>
          <a:effectLst>
            <a:outerShdw blurRad="101600" dist="25400" dir="2700000" algn="bl" rotWithShape="0">
              <a:srgbClr val="000000">
                <a:alpha val="10000"/>
              </a:srgbClr>
            </a:outerShdw>
          </a:effectLst>
        </p:spPr>
      </p:sp>
      <p:sp>
        <p:nvSpPr>
          <p:cNvPr id="18" name="Text 15"/>
          <p:cNvSpPr/>
          <p:nvPr/>
        </p:nvSpPr>
        <p:spPr>
          <a:xfrm>
            <a:off x="6172200" y="2450592"/>
            <a:ext cx="2560320" cy="32004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20% revenue drop</a:t>
            </a:r>
            <a:endParaRPr lang="en-US" sz="1300" dirty="0"/>
          </a:p>
        </p:txBody>
      </p:sp>
      <p:sp>
        <p:nvSpPr>
          <p:cNvPr id="19" name="Text 16"/>
          <p:cNvSpPr/>
          <p:nvPr/>
        </p:nvSpPr>
        <p:spPr>
          <a:xfrm>
            <a:off x="6172200" y="2743200"/>
            <a:ext cx="2560320" cy="658368"/>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March to November, an Rs.363K monthly decline in eight months.</a:t>
            </a:r>
            <a:endParaRPr lang="en-US" sz="1000" dirty="0"/>
          </a:p>
        </p:txBody>
      </p:sp>
      <p:sp>
        <p:nvSpPr>
          <p:cNvPr id="20" name="Shape 17"/>
          <p:cNvSpPr/>
          <p:nvPr/>
        </p:nvSpPr>
        <p:spPr>
          <a:xfrm>
            <a:off x="6035040" y="3657600"/>
            <a:ext cx="2834640" cy="1143000"/>
          </a:xfrm>
          <a:prstGeom prst="roundRect">
            <a:avLst>
              <a:gd name="adj" fmla="val 6400"/>
            </a:avLst>
          </a:prstGeom>
          <a:solidFill>
            <a:srgbClr val="F4F4F4"/>
          </a:solidFill>
          <a:ln w="12700">
            <a:solidFill>
              <a:srgbClr val="F4F4F4"/>
            </a:solidFill>
            <a:prstDash val="solid"/>
          </a:ln>
          <a:effectLst>
            <a:outerShdw blurRad="101600" dist="25400" dir="2700000" algn="bl" rotWithShape="0">
              <a:srgbClr val="000000">
                <a:alpha val="10000"/>
              </a:srgbClr>
            </a:outerShdw>
          </a:effectLst>
        </p:spPr>
      </p:sp>
      <p:sp>
        <p:nvSpPr>
          <p:cNvPr id="21" name="Text 18"/>
          <p:cNvSpPr/>
          <p:nvPr/>
        </p:nvSpPr>
        <p:spPr>
          <a:xfrm>
            <a:off x="6172200" y="3730752"/>
            <a:ext cx="256032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Orders fell 22%</a:t>
            </a:r>
            <a:endParaRPr lang="en-US" sz="1300" dirty="0"/>
          </a:p>
        </p:txBody>
      </p:sp>
      <p:sp>
        <p:nvSpPr>
          <p:cNvPr id="22" name="Text 19"/>
          <p:cNvSpPr/>
          <p:nvPr/>
        </p:nvSpPr>
        <p:spPr>
          <a:xfrm>
            <a:off x="6172200" y="4023360"/>
            <a:ext cx="2560320" cy="658368"/>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From 2,348 in March to 1,820 in November. Average order value held at Rs.776, the pricing engine is fine.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Two Channels. Two Categories. 97% of the Loss.</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Most of the decline is concentrated in just two sales channels and two product categories.</a:t>
            </a:r>
            <a:endParaRPr lang="en-US" sz="1200" dirty="0"/>
          </a:p>
        </p:txBody>
      </p:sp>
      <p:sp>
        <p:nvSpPr>
          <p:cNvPr id="4" name="Text 2"/>
          <p:cNvSpPr/>
          <p:nvPr/>
        </p:nvSpPr>
        <p:spPr>
          <a:xfrm>
            <a:off x="365760" y="1005840"/>
            <a:ext cx="411480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Channel Loss: March vs November</a:t>
            </a:r>
            <a:endParaRPr lang="en-US" sz="1300" dirty="0"/>
          </a:p>
        </p:txBody>
      </p:sp>
      <p:graphicFrame>
        <p:nvGraphicFramePr>
          <p:cNvPr id="5" name="Chart 0"/>
          <p:cNvGraphicFramePr/>
          <p:nvPr>
            <p:extLst>
              <p:ext uri="{D42A27DB-BD31-4B8C-83A1-F6EECF244321}">
                <p14:modId xmlns:p14="http://schemas.microsoft.com/office/powerpoint/2010/main" val="1654562835"/>
              </p:ext>
            </p:extLst>
          </p:nvPr>
        </p:nvGraphicFramePr>
        <p:xfrm>
          <a:off x="274320" y="1325880"/>
          <a:ext cx="420624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365760" y="3977640"/>
            <a:ext cx="4114800" cy="594360"/>
          </a:xfrm>
          <a:prstGeom prst="roundRect">
            <a:avLst>
              <a:gd name="adj" fmla="val 12308"/>
            </a:avLst>
          </a:prstGeom>
          <a:solidFill>
            <a:srgbClr val="B85042"/>
          </a:solidFill>
          <a:ln w="12700">
            <a:solidFill>
              <a:srgbClr val="B85042"/>
            </a:solidFill>
            <a:prstDash val="solid"/>
          </a:ln>
        </p:spPr>
      </p:sp>
      <p:sp>
        <p:nvSpPr>
          <p:cNvPr id="7" name="Text 4"/>
          <p:cNvSpPr/>
          <p:nvPr/>
        </p:nvSpPr>
        <p:spPr>
          <a:xfrm>
            <a:off x="457200" y="4005072"/>
            <a:ext cx="3931920" cy="53035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Amazon + Myntra = Rs.261K loss = 72% of total monthly decline</a:t>
            </a:r>
            <a:endParaRPr lang="en-US" sz="1000" dirty="0"/>
          </a:p>
        </p:txBody>
      </p:sp>
      <p:sp>
        <p:nvSpPr>
          <p:cNvPr id="8" name="Text 5"/>
          <p:cNvSpPr/>
          <p:nvPr/>
        </p:nvSpPr>
        <p:spPr>
          <a:xfrm>
            <a:off x="4754880" y="1005840"/>
            <a:ext cx="411480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Category Loss: March vs November</a:t>
            </a:r>
            <a:endParaRPr lang="en-US" sz="1300" dirty="0"/>
          </a:p>
        </p:txBody>
      </p:sp>
      <p:graphicFrame>
        <p:nvGraphicFramePr>
          <p:cNvPr id="9" name="Chart 1"/>
          <p:cNvGraphicFramePr/>
          <p:nvPr>
            <p:extLst>
              <p:ext uri="{D42A27DB-BD31-4B8C-83A1-F6EECF244321}">
                <p14:modId xmlns:p14="http://schemas.microsoft.com/office/powerpoint/2010/main" val="2566188346"/>
              </p:ext>
            </p:extLst>
          </p:nvPr>
        </p:nvGraphicFramePr>
        <p:xfrm>
          <a:off x="4663440" y="1325880"/>
          <a:ext cx="420624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4663440" y="3977640"/>
            <a:ext cx="4114800" cy="594360"/>
          </a:xfrm>
          <a:prstGeom prst="roundRect">
            <a:avLst>
              <a:gd name="adj" fmla="val 12308"/>
            </a:avLst>
          </a:prstGeom>
          <a:solidFill>
            <a:srgbClr val="1F3864"/>
          </a:solidFill>
          <a:ln w="12700">
            <a:solidFill>
              <a:srgbClr val="1F3864"/>
            </a:solidFill>
            <a:prstDash val="solid"/>
          </a:ln>
        </p:spPr>
      </p:sp>
      <p:sp>
        <p:nvSpPr>
          <p:cNvPr id="11" name="Text 7"/>
          <p:cNvSpPr/>
          <p:nvPr/>
        </p:nvSpPr>
        <p:spPr>
          <a:xfrm>
            <a:off x="4754880" y="4005072"/>
            <a:ext cx="3931920" cy="53035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Set + kurta = Rs.354K loss = 97% of total monthly decline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The Central Finding: Women Left. Men Stayed.</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Women dropped 22-30% across every age group. Men dropped only 5-8%. This is not market drift.</a:t>
            </a:r>
            <a:endParaRPr lang="en-US" sz="1200" dirty="0"/>
          </a:p>
        </p:txBody>
      </p:sp>
      <p:graphicFrame>
        <p:nvGraphicFramePr>
          <p:cNvPr id="4" name="Chart 0"/>
          <p:cNvGraphicFramePr/>
          <p:nvPr/>
        </p:nvGraphicFramePr>
        <p:xfrm>
          <a:off x="365760" y="1005840"/>
          <a:ext cx="530352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005840"/>
            <a:ext cx="2834640" cy="530352"/>
          </a:xfrm>
          <a:prstGeom prst="roundRect">
            <a:avLst>
              <a:gd name="adj" fmla="val 10345"/>
            </a:avLst>
          </a:prstGeom>
          <a:solidFill>
            <a:srgbClr val="F4F4F4"/>
          </a:solidFill>
          <a:ln w="12700">
            <a:solidFill>
              <a:srgbClr val="F4F4F4"/>
            </a:solidFill>
            <a:prstDash val="solid"/>
          </a:ln>
        </p:spPr>
      </p:sp>
      <p:sp>
        <p:nvSpPr>
          <p:cNvPr id="6" name="Text 3"/>
          <p:cNvSpPr/>
          <p:nvPr/>
        </p:nvSpPr>
        <p:spPr>
          <a:xfrm>
            <a:off x="6053328" y="1051560"/>
            <a:ext cx="1737360" cy="43891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Women Teenager</a:t>
            </a:r>
            <a:endParaRPr lang="en-US" sz="1000" dirty="0"/>
          </a:p>
        </p:txBody>
      </p:sp>
      <p:sp>
        <p:nvSpPr>
          <p:cNvPr id="7" name="Text 4"/>
          <p:cNvSpPr/>
          <p:nvPr/>
        </p:nvSpPr>
        <p:spPr>
          <a:xfrm>
            <a:off x="7498080" y="1051560"/>
            <a:ext cx="1188720" cy="438912"/>
          </a:xfrm>
          <a:prstGeom prst="rect">
            <a:avLst/>
          </a:prstGeom>
          <a:noFill/>
          <a:ln/>
        </p:spPr>
        <p:txBody>
          <a:bodyPr wrap="square" rtlCol="0" anchor="ctr"/>
          <a:lstStyle/>
          <a:p>
            <a:pPr marL="0" indent="0" algn="r">
              <a:buNone/>
            </a:pPr>
            <a:r>
              <a:rPr lang="en-US" sz="1400" b="1" dirty="0">
                <a:solidFill>
                  <a:srgbClr val="B85042"/>
                </a:solidFill>
                <a:latin typeface="Calibri" pitchFamily="34" charset="0"/>
                <a:ea typeface="Calibri" pitchFamily="34" charset="-122"/>
                <a:cs typeface="Calibri" pitchFamily="34" charset="-120"/>
              </a:rPr>
              <a:t>-29.8%</a:t>
            </a:r>
            <a:endParaRPr lang="en-US" sz="1400" dirty="0"/>
          </a:p>
        </p:txBody>
      </p:sp>
      <p:sp>
        <p:nvSpPr>
          <p:cNvPr id="8" name="Shape 5"/>
          <p:cNvSpPr/>
          <p:nvPr/>
        </p:nvSpPr>
        <p:spPr>
          <a:xfrm>
            <a:off x="5943600" y="1627632"/>
            <a:ext cx="2834640" cy="530352"/>
          </a:xfrm>
          <a:prstGeom prst="roundRect">
            <a:avLst>
              <a:gd name="adj" fmla="val 10345"/>
            </a:avLst>
          </a:prstGeom>
          <a:solidFill>
            <a:srgbClr val="F4F4F4"/>
          </a:solidFill>
          <a:ln w="12700">
            <a:solidFill>
              <a:srgbClr val="F4F4F4"/>
            </a:solidFill>
            <a:prstDash val="solid"/>
          </a:ln>
        </p:spPr>
      </p:sp>
      <p:sp>
        <p:nvSpPr>
          <p:cNvPr id="9" name="Text 6"/>
          <p:cNvSpPr/>
          <p:nvPr/>
        </p:nvSpPr>
        <p:spPr>
          <a:xfrm>
            <a:off x="6053328" y="1673352"/>
            <a:ext cx="1737360" cy="43891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Women Adult</a:t>
            </a:r>
            <a:endParaRPr lang="en-US" sz="1000" dirty="0"/>
          </a:p>
        </p:txBody>
      </p:sp>
      <p:sp>
        <p:nvSpPr>
          <p:cNvPr id="10" name="Text 7"/>
          <p:cNvSpPr/>
          <p:nvPr/>
        </p:nvSpPr>
        <p:spPr>
          <a:xfrm>
            <a:off x="7498080" y="1673352"/>
            <a:ext cx="1188720" cy="438912"/>
          </a:xfrm>
          <a:prstGeom prst="rect">
            <a:avLst/>
          </a:prstGeom>
          <a:noFill/>
          <a:ln/>
        </p:spPr>
        <p:txBody>
          <a:bodyPr wrap="square" rtlCol="0" anchor="ctr"/>
          <a:lstStyle/>
          <a:p>
            <a:pPr marL="0" indent="0" algn="r">
              <a:buNone/>
            </a:pPr>
            <a:r>
              <a:rPr lang="en-US" sz="1400" b="1" dirty="0">
                <a:solidFill>
                  <a:srgbClr val="B85042"/>
                </a:solidFill>
                <a:latin typeface="Calibri" pitchFamily="34" charset="0"/>
                <a:ea typeface="Calibri" pitchFamily="34" charset="-122"/>
                <a:cs typeface="Calibri" pitchFamily="34" charset="-120"/>
              </a:rPr>
              <a:t>-24.0%</a:t>
            </a:r>
            <a:endParaRPr lang="en-US" sz="1400" dirty="0"/>
          </a:p>
        </p:txBody>
      </p:sp>
      <p:sp>
        <p:nvSpPr>
          <p:cNvPr id="11" name="Shape 8"/>
          <p:cNvSpPr/>
          <p:nvPr/>
        </p:nvSpPr>
        <p:spPr>
          <a:xfrm>
            <a:off x="5943600" y="2249424"/>
            <a:ext cx="2834640" cy="530352"/>
          </a:xfrm>
          <a:prstGeom prst="roundRect">
            <a:avLst>
              <a:gd name="adj" fmla="val 10345"/>
            </a:avLst>
          </a:prstGeom>
          <a:solidFill>
            <a:srgbClr val="F4F4F4"/>
          </a:solidFill>
          <a:ln w="12700">
            <a:solidFill>
              <a:srgbClr val="F4F4F4"/>
            </a:solidFill>
            <a:prstDash val="solid"/>
          </a:ln>
        </p:spPr>
      </p:sp>
      <p:sp>
        <p:nvSpPr>
          <p:cNvPr id="12" name="Text 9"/>
          <p:cNvSpPr/>
          <p:nvPr/>
        </p:nvSpPr>
        <p:spPr>
          <a:xfrm>
            <a:off x="6053328" y="2295144"/>
            <a:ext cx="1737360" cy="43891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Women Senior</a:t>
            </a:r>
            <a:endParaRPr lang="en-US" sz="1000" dirty="0"/>
          </a:p>
        </p:txBody>
      </p:sp>
      <p:sp>
        <p:nvSpPr>
          <p:cNvPr id="13" name="Text 10"/>
          <p:cNvSpPr/>
          <p:nvPr/>
        </p:nvSpPr>
        <p:spPr>
          <a:xfrm>
            <a:off x="7498080" y="2295144"/>
            <a:ext cx="1188720" cy="438912"/>
          </a:xfrm>
          <a:prstGeom prst="rect">
            <a:avLst/>
          </a:prstGeom>
          <a:noFill/>
          <a:ln/>
        </p:spPr>
        <p:txBody>
          <a:bodyPr wrap="square" rtlCol="0" anchor="ctr"/>
          <a:lstStyle/>
          <a:p>
            <a:pPr marL="0" indent="0" algn="r">
              <a:buNone/>
            </a:pPr>
            <a:r>
              <a:rPr lang="en-US" sz="1400" b="1" dirty="0">
                <a:solidFill>
                  <a:srgbClr val="B85042"/>
                </a:solidFill>
                <a:latin typeface="Calibri" pitchFamily="34" charset="0"/>
                <a:ea typeface="Calibri" pitchFamily="34" charset="-122"/>
                <a:cs typeface="Calibri" pitchFamily="34" charset="-120"/>
              </a:rPr>
              <a:t>-22.8%</a:t>
            </a:r>
            <a:endParaRPr lang="en-US" sz="1400" dirty="0"/>
          </a:p>
        </p:txBody>
      </p:sp>
      <p:sp>
        <p:nvSpPr>
          <p:cNvPr id="14" name="Shape 11"/>
          <p:cNvSpPr/>
          <p:nvPr/>
        </p:nvSpPr>
        <p:spPr>
          <a:xfrm>
            <a:off x="5943600" y="2871216"/>
            <a:ext cx="2834640" cy="530352"/>
          </a:xfrm>
          <a:prstGeom prst="roundRect">
            <a:avLst>
              <a:gd name="adj" fmla="val 10345"/>
            </a:avLst>
          </a:prstGeom>
          <a:solidFill>
            <a:srgbClr val="F4F4F4"/>
          </a:solidFill>
          <a:ln w="12700">
            <a:solidFill>
              <a:srgbClr val="F4F4F4"/>
            </a:solidFill>
            <a:prstDash val="solid"/>
          </a:ln>
        </p:spPr>
      </p:sp>
      <p:sp>
        <p:nvSpPr>
          <p:cNvPr id="15" name="Text 12"/>
          <p:cNvSpPr/>
          <p:nvPr/>
        </p:nvSpPr>
        <p:spPr>
          <a:xfrm>
            <a:off x="6053328" y="2916936"/>
            <a:ext cx="1737360" cy="43891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Men Senior</a:t>
            </a:r>
            <a:endParaRPr lang="en-US" sz="1000" dirty="0"/>
          </a:p>
        </p:txBody>
      </p:sp>
      <p:sp>
        <p:nvSpPr>
          <p:cNvPr id="16" name="Text 13"/>
          <p:cNvSpPr/>
          <p:nvPr/>
        </p:nvSpPr>
        <p:spPr>
          <a:xfrm>
            <a:off x="7498080" y="2916936"/>
            <a:ext cx="1188720" cy="438912"/>
          </a:xfrm>
          <a:prstGeom prst="rect">
            <a:avLst/>
          </a:prstGeom>
          <a:noFill/>
          <a:ln/>
        </p:spPr>
        <p:txBody>
          <a:bodyPr wrap="square" rtlCol="0" anchor="ctr"/>
          <a:lstStyle/>
          <a:p>
            <a:pPr marL="0" indent="0" algn="r">
              <a:buNone/>
            </a:pPr>
            <a:r>
              <a:rPr lang="en-US" sz="1400" b="1" dirty="0">
                <a:solidFill>
                  <a:srgbClr val="2F5496"/>
                </a:solidFill>
                <a:latin typeface="Calibri" pitchFamily="34" charset="0"/>
                <a:ea typeface="Calibri" pitchFamily="34" charset="-122"/>
                <a:cs typeface="Calibri" pitchFamily="34" charset="-120"/>
              </a:rPr>
              <a:t>-7.7%</a:t>
            </a:r>
            <a:endParaRPr lang="en-US" sz="1400" dirty="0"/>
          </a:p>
        </p:txBody>
      </p:sp>
      <p:sp>
        <p:nvSpPr>
          <p:cNvPr id="17" name="Shape 14"/>
          <p:cNvSpPr/>
          <p:nvPr/>
        </p:nvSpPr>
        <p:spPr>
          <a:xfrm>
            <a:off x="5943600" y="3493008"/>
            <a:ext cx="2834640" cy="530352"/>
          </a:xfrm>
          <a:prstGeom prst="roundRect">
            <a:avLst>
              <a:gd name="adj" fmla="val 10345"/>
            </a:avLst>
          </a:prstGeom>
          <a:solidFill>
            <a:srgbClr val="F4F4F4"/>
          </a:solidFill>
          <a:ln w="12700">
            <a:solidFill>
              <a:srgbClr val="F4F4F4"/>
            </a:solidFill>
            <a:prstDash val="solid"/>
          </a:ln>
        </p:spPr>
      </p:sp>
      <p:sp>
        <p:nvSpPr>
          <p:cNvPr id="18" name="Text 15"/>
          <p:cNvSpPr/>
          <p:nvPr/>
        </p:nvSpPr>
        <p:spPr>
          <a:xfrm>
            <a:off x="6053328" y="3538728"/>
            <a:ext cx="1737360" cy="43891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Men Adult</a:t>
            </a:r>
            <a:endParaRPr lang="en-US" sz="1000" dirty="0"/>
          </a:p>
        </p:txBody>
      </p:sp>
      <p:sp>
        <p:nvSpPr>
          <p:cNvPr id="19" name="Text 16"/>
          <p:cNvSpPr/>
          <p:nvPr/>
        </p:nvSpPr>
        <p:spPr>
          <a:xfrm>
            <a:off x="7498080" y="3538728"/>
            <a:ext cx="1188720" cy="438912"/>
          </a:xfrm>
          <a:prstGeom prst="rect">
            <a:avLst/>
          </a:prstGeom>
          <a:noFill/>
          <a:ln/>
        </p:spPr>
        <p:txBody>
          <a:bodyPr wrap="square" rtlCol="0" anchor="ctr"/>
          <a:lstStyle/>
          <a:p>
            <a:pPr marL="0" indent="0" algn="r">
              <a:buNone/>
            </a:pPr>
            <a:r>
              <a:rPr lang="en-US" sz="1400" b="1" dirty="0">
                <a:solidFill>
                  <a:srgbClr val="2F5496"/>
                </a:solidFill>
                <a:latin typeface="Calibri" pitchFamily="34" charset="0"/>
                <a:ea typeface="Calibri" pitchFamily="34" charset="-122"/>
                <a:cs typeface="Calibri" pitchFamily="34" charset="-120"/>
              </a:rPr>
              <a:t>-7.6%</a:t>
            </a:r>
            <a:endParaRPr lang="en-US" sz="1400" dirty="0"/>
          </a:p>
        </p:txBody>
      </p:sp>
      <p:sp>
        <p:nvSpPr>
          <p:cNvPr id="20" name="Shape 17"/>
          <p:cNvSpPr/>
          <p:nvPr/>
        </p:nvSpPr>
        <p:spPr>
          <a:xfrm>
            <a:off x="5943600" y="4114800"/>
            <a:ext cx="2834640" cy="530352"/>
          </a:xfrm>
          <a:prstGeom prst="roundRect">
            <a:avLst>
              <a:gd name="adj" fmla="val 10345"/>
            </a:avLst>
          </a:prstGeom>
          <a:solidFill>
            <a:srgbClr val="F4F4F4"/>
          </a:solidFill>
          <a:ln w="12700">
            <a:solidFill>
              <a:srgbClr val="F4F4F4"/>
            </a:solidFill>
            <a:prstDash val="solid"/>
          </a:ln>
        </p:spPr>
      </p:sp>
      <p:sp>
        <p:nvSpPr>
          <p:cNvPr id="21" name="Text 18"/>
          <p:cNvSpPr/>
          <p:nvPr/>
        </p:nvSpPr>
        <p:spPr>
          <a:xfrm>
            <a:off x="6053328" y="4160520"/>
            <a:ext cx="1737360" cy="438912"/>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Men Teen</a:t>
            </a:r>
            <a:endParaRPr lang="en-US" sz="1000" dirty="0"/>
          </a:p>
        </p:txBody>
      </p:sp>
      <p:sp>
        <p:nvSpPr>
          <p:cNvPr id="22" name="Text 19"/>
          <p:cNvSpPr/>
          <p:nvPr/>
        </p:nvSpPr>
        <p:spPr>
          <a:xfrm>
            <a:off x="7498080" y="4160520"/>
            <a:ext cx="1188720" cy="438912"/>
          </a:xfrm>
          <a:prstGeom prst="rect">
            <a:avLst/>
          </a:prstGeom>
          <a:noFill/>
          <a:ln/>
        </p:spPr>
        <p:txBody>
          <a:bodyPr wrap="square" rtlCol="0" anchor="ctr"/>
          <a:lstStyle/>
          <a:p>
            <a:pPr marL="0" indent="0" algn="r">
              <a:buNone/>
            </a:pPr>
            <a:r>
              <a:rPr lang="en-US" sz="1400" b="1" dirty="0">
                <a:solidFill>
                  <a:srgbClr val="2F5496"/>
                </a:solidFill>
                <a:latin typeface="Calibri" pitchFamily="34" charset="0"/>
                <a:ea typeface="Calibri" pitchFamily="34" charset="-122"/>
                <a:cs typeface="Calibri" pitchFamily="34" charset="-120"/>
              </a:rPr>
              <a:t>-5.1%</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Stress Test: Do Women Leave on the Same Channels?</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Before accepting the diagnosis, one final question: is the women-customer loss the same channels we already identified?</a:t>
            </a:r>
            <a:endParaRPr lang="en-US" sz="1200" dirty="0"/>
          </a:p>
        </p:txBody>
      </p:sp>
      <p:graphicFrame>
        <p:nvGraphicFramePr>
          <p:cNvPr id="4" name="Chart 0"/>
          <p:cNvGraphicFramePr/>
          <p:nvPr>
            <p:extLst>
              <p:ext uri="{D42A27DB-BD31-4B8C-83A1-F6EECF244321}">
                <p14:modId xmlns:p14="http://schemas.microsoft.com/office/powerpoint/2010/main" val="1567788811"/>
              </p:ext>
            </p:extLst>
          </p:nvPr>
        </p:nvGraphicFramePr>
        <p:xfrm>
          <a:off x="365760" y="1005840"/>
          <a:ext cx="53035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005840"/>
            <a:ext cx="2834640" cy="1371600"/>
          </a:xfrm>
          <a:prstGeom prst="roundRect">
            <a:avLst>
              <a:gd name="adj" fmla="val 6667"/>
            </a:avLst>
          </a:prstGeom>
          <a:solidFill>
            <a:srgbClr val="B85042"/>
          </a:solidFill>
          <a:ln w="12700">
            <a:solidFill>
              <a:srgbClr val="B85042"/>
            </a:solidFill>
            <a:prstDash val="solid"/>
          </a:ln>
          <a:effectLst>
            <a:outerShdw blurRad="101600" dist="25400" dir="2700000" algn="bl" rotWithShape="0">
              <a:srgbClr val="000000">
                <a:alpha val="10000"/>
              </a:srgbClr>
            </a:outerShdw>
          </a:effectLst>
        </p:spPr>
      </p:sp>
      <p:sp>
        <p:nvSpPr>
          <p:cNvPr id="6" name="Text 3"/>
          <p:cNvSpPr/>
          <p:nvPr/>
        </p:nvSpPr>
        <p:spPr>
          <a:xfrm>
            <a:off x="6080760" y="1078992"/>
            <a:ext cx="256032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Myntra</a:t>
            </a:r>
            <a:endParaRPr lang="en-US" sz="1400" dirty="0"/>
          </a:p>
        </p:txBody>
      </p:sp>
      <p:sp>
        <p:nvSpPr>
          <p:cNvPr id="7" name="Text 4"/>
          <p:cNvSpPr/>
          <p:nvPr/>
        </p:nvSpPr>
        <p:spPr>
          <a:xfrm>
            <a:off x="6080760" y="1371600"/>
            <a:ext cx="2560320" cy="502920"/>
          </a:xfrm>
          <a:prstGeom prst="rect">
            <a:avLst/>
          </a:prstGeom>
          <a:noFill/>
          <a:ln/>
        </p:spPr>
        <p:txBody>
          <a:bodyPr wrap="square" rtlCol="0" anchor="ctr"/>
          <a:lstStyle/>
          <a:p>
            <a:pPr marL="0" indent="0">
              <a:buNone/>
            </a:pPr>
            <a:r>
              <a:rPr lang="en-US" sz="1300" b="1" dirty="0">
                <a:solidFill>
                  <a:srgbClr val="F0C8A0"/>
                </a:solidFill>
                <a:latin typeface="Calibri" pitchFamily="34" charset="0"/>
                <a:ea typeface="Calibri" pitchFamily="34" charset="-122"/>
                <a:cs typeface="Calibri" pitchFamily="34" charset="-120"/>
              </a:rPr>
              <a:t>Rs.112K women</a:t>
            </a:r>
            <a:endParaRPr lang="en-US" sz="1300" dirty="0"/>
          </a:p>
          <a:p>
            <a:pPr marL="0" indent="0">
              <a:buNone/>
            </a:pPr>
            <a:r>
              <a:rPr lang="en-US" sz="1300" b="1" dirty="0">
                <a:solidFill>
                  <a:srgbClr val="F0C8A0"/>
                </a:solidFill>
                <a:latin typeface="Calibri" pitchFamily="34" charset="0"/>
                <a:ea typeface="Calibri" pitchFamily="34" charset="-122"/>
                <a:cs typeface="Calibri" pitchFamily="34" charset="-120"/>
              </a:rPr>
              <a:t>monthly loss</a:t>
            </a:r>
            <a:endParaRPr lang="en-US" sz="1300" dirty="0"/>
          </a:p>
        </p:txBody>
      </p:sp>
      <p:sp>
        <p:nvSpPr>
          <p:cNvPr id="8" name="Text 5"/>
          <p:cNvSpPr/>
          <p:nvPr/>
        </p:nvSpPr>
        <p:spPr>
          <a:xfrm>
            <a:off x="6080760" y="1847088"/>
            <a:ext cx="2560320" cy="365760"/>
          </a:xfrm>
          <a:prstGeom prst="rect">
            <a:avLst/>
          </a:prstGeom>
          <a:noFill/>
          <a:ln/>
        </p:spPr>
        <p:txBody>
          <a:bodyPr wrap="square" rtlCol="0" anchor="ctr"/>
          <a:lstStyle/>
          <a:p>
            <a:pPr marL="0" indent="0">
              <a:buNone/>
            </a:pPr>
            <a:r>
              <a:rPr lang="en-US" sz="1000" dirty="0">
                <a:solidFill>
                  <a:srgbClr val="F0C8A0"/>
                </a:solidFill>
                <a:latin typeface="Calibri" pitchFamily="34" charset="0"/>
                <a:ea typeface="Calibri" pitchFamily="34" charset="-122"/>
                <a:cs typeface="Calibri" pitchFamily="34" charset="-120"/>
              </a:rPr>
              <a:t>Largest single bleed in the company.</a:t>
            </a:r>
            <a:endParaRPr lang="en-US" sz="1000" dirty="0"/>
          </a:p>
        </p:txBody>
      </p:sp>
      <p:sp>
        <p:nvSpPr>
          <p:cNvPr id="9" name="Shape 6"/>
          <p:cNvSpPr/>
          <p:nvPr/>
        </p:nvSpPr>
        <p:spPr>
          <a:xfrm>
            <a:off x="5943600" y="2514600"/>
            <a:ext cx="2834640" cy="1371600"/>
          </a:xfrm>
          <a:prstGeom prst="roundRect">
            <a:avLst>
              <a:gd name="adj" fmla="val 6667"/>
            </a:avLst>
          </a:prstGeom>
          <a:solidFill>
            <a:srgbClr val="1F3864"/>
          </a:solidFill>
          <a:ln w="12700">
            <a:solidFill>
              <a:srgbClr val="1F3864"/>
            </a:solidFill>
            <a:prstDash val="solid"/>
          </a:ln>
          <a:effectLst>
            <a:outerShdw blurRad="101600" dist="25400" dir="2700000" algn="bl" rotWithShape="0">
              <a:srgbClr val="000000">
                <a:alpha val="10000"/>
              </a:srgbClr>
            </a:outerShdw>
          </a:effectLst>
        </p:spPr>
      </p:sp>
      <p:sp>
        <p:nvSpPr>
          <p:cNvPr id="10" name="Text 7"/>
          <p:cNvSpPr/>
          <p:nvPr/>
        </p:nvSpPr>
        <p:spPr>
          <a:xfrm>
            <a:off x="6080760" y="2587752"/>
            <a:ext cx="256032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Amazon</a:t>
            </a:r>
            <a:endParaRPr lang="en-US" sz="1400" dirty="0"/>
          </a:p>
        </p:txBody>
      </p:sp>
      <p:sp>
        <p:nvSpPr>
          <p:cNvPr id="11" name="Text 8"/>
          <p:cNvSpPr/>
          <p:nvPr/>
        </p:nvSpPr>
        <p:spPr>
          <a:xfrm>
            <a:off x="6080760" y="2880360"/>
            <a:ext cx="2560320" cy="502920"/>
          </a:xfrm>
          <a:prstGeom prst="rect">
            <a:avLst/>
          </a:prstGeom>
          <a:noFill/>
          <a:ln/>
        </p:spPr>
        <p:txBody>
          <a:bodyPr wrap="square"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Rs.89K women</a:t>
            </a:r>
            <a:endParaRPr lang="en-US" sz="1300" dirty="0"/>
          </a:p>
          <a:p>
            <a:pPr marL="0" indent="0">
              <a:buNone/>
            </a:pPr>
            <a:r>
              <a:rPr lang="en-US" sz="1300" b="1" dirty="0">
                <a:solidFill>
                  <a:srgbClr val="CADCFC"/>
                </a:solidFill>
                <a:latin typeface="Calibri" pitchFamily="34" charset="0"/>
                <a:ea typeface="Calibri" pitchFamily="34" charset="-122"/>
                <a:cs typeface="Calibri" pitchFamily="34" charset="-120"/>
              </a:rPr>
              <a:t>monthly loss</a:t>
            </a:r>
            <a:endParaRPr lang="en-US" sz="1300" dirty="0"/>
          </a:p>
        </p:txBody>
      </p:sp>
      <p:sp>
        <p:nvSpPr>
          <p:cNvPr id="12" name="Text 9"/>
          <p:cNvSpPr/>
          <p:nvPr/>
        </p:nvSpPr>
        <p:spPr>
          <a:xfrm>
            <a:off x="6080760" y="3355848"/>
            <a:ext cx="2560320" cy="36576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Second largest bleed.</a:t>
            </a:r>
            <a:endParaRPr lang="en-US" sz="1000" dirty="0"/>
          </a:p>
        </p:txBody>
      </p:sp>
      <p:sp>
        <p:nvSpPr>
          <p:cNvPr id="13" name="Shape 10"/>
          <p:cNvSpPr/>
          <p:nvPr/>
        </p:nvSpPr>
        <p:spPr>
          <a:xfrm>
            <a:off x="5943600" y="4023360"/>
            <a:ext cx="2834640" cy="731520"/>
          </a:xfrm>
          <a:prstGeom prst="roundRect">
            <a:avLst>
              <a:gd name="adj" fmla="val 10000"/>
            </a:avLst>
          </a:prstGeom>
          <a:solidFill>
            <a:srgbClr val="0F7B3D"/>
          </a:solidFill>
          <a:ln w="12700">
            <a:solidFill>
              <a:srgbClr val="0F7B3D"/>
            </a:solidFill>
            <a:prstDash val="solid"/>
          </a:ln>
        </p:spPr>
      </p:sp>
      <p:sp>
        <p:nvSpPr>
          <p:cNvPr id="14" name="Text 11"/>
          <p:cNvSpPr/>
          <p:nvPr/>
        </p:nvSpPr>
        <p:spPr>
          <a:xfrm>
            <a:off x="6053328" y="4041648"/>
            <a:ext cx="2651760" cy="69494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Together: Rs.201K = 62% of women-segment loss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Four Recommendations</a:t>
            </a:r>
            <a:endParaRPr lang="en-US" sz="2200" dirty="0"/>
          </a:p>
        </p:txBody>
      </p:sp>
      <p:sp>
        <p:nvSpPr>
          <p:cNvPr id="3" name="Text 1"/>
          <p:cNvSpPr/>
          <p:nvPr/>
        </p:nvSpPr>
        <p:spPr>
          <a:xfrm>
            <a:off x="457200" y="658368"/>
            <a:ext cx="8229600" cy="27432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Prioritized by how much revenue each action can recover.</a:t>
            </a:r>
            <a:endParaRPr lang="en-US" sz="1200" dirty="0"/>
          </a:p>
        </p:txBody>
      </p:sp>
      <p:sp>
        <p:nvSpPr>
          <p:cNvPr id="4" name="Shape 2"/>
          <p:cNvSpPr/>
          <p:nvPr/>
        </p:nvSpPr>
        <p:spPr>
          <a:xfrm>
            <a:off x="365760" y="1097280"/>
            <a:ext cx="4160520" cy="1691640"/>
          </a:xfrm>
          <a:prstGeom prst="roundRect">
            <a:avLst>
              <a:gd name="adj" fmla="val 5405"/>
            </a:avLst>
          </a:prstGeom>
          <a:solidFill>
            <a:srgbClr val="B85042"/>
          </a:solidFill>
          <a:ln w="12700">
            <a:solidFill>
              <a:srgbClr val="B85042"/>
            </a:solidFill>
            <a:prstDash val="solid"/>
          </a:ln>
          <a:effectLst>
            <a:outerShdw blurRad="101600" dist="25400" dir="2700000" algn="bl" rotWithShape="0">
              <a:srgbClr val="000000">
                <a:alpha val="10000"/>
              </a:srgbClr>
            </a:outerShdw>
          </a:effectLst>
        </p:spPr>
      </p:sp>
      <p:sp>
        <p:nvSpPr>
          <p:cNvPr id="5" name="Text 3"/>
          <p:cNvSpPr/>
          <p:nvPr/>
        </p:nvSpPr>
        <p:spPr>
          <a:xfrm>
            <a:off x="475488" y="1188720"/>
            <a:ext cx="411480" cy="411480"/>
          </a:xfrm>
          <a:prstGeom prst="rect">
            <a:avLst/>
          </a:prstGeom>
          <a:noFill/>
          <a:ln/>
        </p:spPr>
        <p:txBody>
          <a:bodyPr wrap="square" rtlCol="0" anchor="ctr"/>
          <a:lstStyle/>
          <a:p>
            <a:pPr marL="0" indent="0">
              <a:buNone/>
            </a:pPr>
            <a:r>
              <a:rPr lang="en-US" sz="1800" b="1" dirty="0">
                <a:solidFill>
                  <a:srgbClr val="F0C8A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914400" y="1188720"/>
            <a:ext cx="34747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Reactivate women customers on Myntra</a:t>
            </a:r>
            <a:endParaRPr lang="en-US" sz="1200" dirty="0"/>
          </a:p>
        </p:txBody>
      </p:sp>
      <p:sp>
        <p:nvSpPr>
          <p:cNvPr id="7" name="Text 5"/>
          <p:cNvSpPr/>
          <p:nvPr/>
        </p:nvSpPr>
        <p:spPr>
          <a:xfrm>
            <a:off x="502920" y="1645920"/>
            <a:ext cx="3886200" cy="1005840"/>
          </a:xfrm>
          <a:prstGeom prst="rect">
            <a:avLst/>
          </a:prstGeom>
          <a:noFill/>
          <a:ln/>
        </p:spPr>
        <p:txBody>
          <a:bodyPr wrap="square" rtlCol="0" anchor="ctr"/>
          <a:lstStyle/>
          <a:p>
            <a:pPr marL="0" indent="0">
              <a:buNone/>
            </a:pPr>
            <a:r>
              <a:rPr lang="en-US" sz="1000" dirty="0">
                <a:solidFill>
                  <a:srgbClr val="F0C8A0"/>
                </a:solidFill>
                <a:latin typeface="Calibri" pitchFamily="34" charset="0"/>
                <a:ea typeface="Calibri" pitchFamily="34" charset="-122"/>
                <a:cs typeface="Calibri" pitchFamily="34" charset="-120"/>
              </a:rPr>
              <a:t>Myntra is the single largest bleed at Rs.112K monthly. Audit Set and kurta visibility, launch a paid reactivation campaign to women who bought in Q1 but stopped after April.</a:t>
            </a:r>
            <a:endParaRPr lang="en-US" sz="1000" dirty="0"/>
          </a:p>
        </p:txBody>
      </p:sp>
      <p:sp>
        <p:nvSpPr>
          <p:cNvPr id="8" name="Shape 6"/>
          <p:cNvSpPr/>
          <p:nvPr/>
        </p:nvSpPr>
        <p:spPr>
          <a:xfrm>
            <a:off x="4709160" y="1097280"/>
            <a:ext cx="4160520" cy="1691640"/>
          </a:xfrm>
          <a:prstGeom prst="roundRect">
            <a:avLst>
              <a:gd name="adj" fmla="val 5405"/>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9" name="Text 7"/>
          <p:cNvSpPr/>
          <p:nvPr/>
        </p:nvSpPr>
        <p:spPr>
          <a:xfrm>
            <a:off x="4818888" y="1188720"/>
            <a:ext cx="411480" cy="411480"/>
          </a:xfrm>
          <a:prstGeom prst="rect">
            <a:avLst/>
          </a:prstGeom>
          <a:noFill/>
          <a:ln/>
        </p:spPr>
        <p:txBody>
          <a:bodyPr wrap="square" rtlCol="0" anchor="ctr"/>
          <a:lstStyle/>
          <a:p>
            <a:pPr marL="0" indent="0">
              <a:buNone/>
            </a:pPr>
            <a:r>
              <a:rPr lang="en-US" sz="1800" b="1" dirty="0">
                <a:solidFill>
                  <a:srgbClr val="B85042"/>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5257800" y="118872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Reactivate women customers on Amazon</a:t>
            </a:r>
            <a:endParaRPr lang="en-US" sz="1200" dirty="0"/>
          </a:p>
        </p:txBody>
      </p:sp>
      <p:sp>
        <p:nvSpPr>
          <p:cNvPr id="11" name="Text 9"/>
          <p:cNvSpPr/>
          <p:nvPr/>
        </p:nvSpPr>
        <p:spPr>
          <a:xfrm>
            <a:off x="4846320" y="1645920"/>
            <a:ext cx="3886200" cy="1005840"/>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Amazon is Rs.89K monthly women loss. More total traffic than Myntra means a smaller percentage recovery equals similar absolute revenue. Same playbook - keyword targeting, sponsored placements, Buy Box review.</a:t>
            </a:r>
            <a:endParaRPr lang="en-US" sz="1000" dirty="0"/>
          </a:p>
        </p:txBody>
      </p:sp>
      <p:sp>
        <p:nvSpPr>
          <p:cNvPr id="12" name="Shape 10"/>
          <p:cNvSpPr/>
          <p:nvPr/>
        </p:nvSpPr>
        <p:spPr>
          <a:xfrm>
            <a:off x="365760" y="3017520"/>
            <a:ext cx="4160520" cy="1691640"/>
          </a:xfrm>
          <a:prstGeom prst="roundRect">
            <a:avLst>
              <a:gd name="adj" fmla="val 5405"/>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13" name="Text 11"/>
          <p:cNvSpPr/>
          <p:nvPr/>
        </p:nvSpPr>
        <p:spPr>
          <a:xfrm>
            <a:off x="475488" y="3108960"/>
            <a:ext cx="411480" cy="411480"/>
          </a:xfrm>
          <a:prstGeom prst="rect">
            <a:avLst/>
          </a:prstGeom>
          <a:noFill/>
          <a:ln/>
        </p:spPr>
        <p:txBody>
          <a:bodyPr wrap="square" rtlCol="0" anchor="ctr"/>
          <a:lstStyle/>
          <a:p>
            <a:pPr marL="0" indent="0">
              <a:buNone/>
            </a:pPr>
            <a:r>
              <a:rPr lang="en-US" sz="1800" b="1" dirty="0">
                <a:solidFill>
                  <a:srgbClr val="B85042"/>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914400" y="310896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Find out why women are leaving</a:t>
            </a:r>
            <a:endParaRPr lang="en-US" sz="1200" dirty="0"/>
          </a:p>
        </p:txBody>
      </p:sp>
      <p:sp>
        <p:nvSpPr>
          <p:cNvPr id="15" name="Text 13"/>
          <p:cNvSpPr/>
          <p:nvPr/>
        </p:nvSpPr>
        <p:spPr>
          <a:xfrm>
            <a:off x="502920" y="3566160"/>
            <a:ext cx="3886200" cy="1005840"/>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The data shows what happened, not why. Survey lapsed women buyers. Audit competitor Set/kurta pricing on Amazon and Myntra. Review Q3-Q4 returns data before scaling spend.</a:t>
            </a:r>
            <a:endParaRPr lang="en-US" sz="1000" dirty="0"/>
          </a:p>
        </p:txBody>
      </p:sp>
      <p:sp>
        <p:nvSpPr>
          <p:cNvPr id="16" name="Shape 14"/>
          <p:cNvSpPr/>
          <p:nvPr/>
        </p:nvSpPr>
        <p:spPr>
          <a:xfrm>
            <a:off x="4709160" y="3017520"/>
            <a:ext cx="4160520" cy="1691640"/>
          </a:xfrm>
          <a:prstGeom prst="roundRect">
            <a:avLst>
              <a:gd name="adj" fmla="val 5405"/>
            </a:avLst>
          </a:prstGeom>
          <a:solidFill>
            <a:srgbClr val="FFFFFF"/>
          </a:solidFill>
          <a:ln w="12700">
            <a:solidFill>
              <a:srgbClr val="FFFFFF"/>
            </a:solidFill>
            <a:prstDash val="solid"/>
          </a:ln>
          <a:effectLst>
            <a:outerShdw blurRad="101600" dist="25400" dir="2700000" algn="bl" rotWithShape="0">
              <a:srgbClr val="000000">
                <a:alpha val="10000"/>
              </a:srgbClr>
            </a:outerShdw>
          </a:effectLst>
        </p:spPr>
      </p:sp>
      <p:sp>
        <p:nvSpPr>
          <p:cNvPr id="17" name="Text 15"/>
          <p:cNvSpPr/>
          <p:nvPr/>
        </p:nvSpPr>
        <p:spPr>
          <a:xfrm>
            <a:off x="4818888" y="3108960"/>
            <a:ext cx="411480" cy="411480"/>
          </a:xfrm>
          <a:prstGeom prst="rect">
            <a:avLst/>
          </a:prstGeom>
          <a:noFill/>
          <a:ln/>
        </p:spPr>
        <p:txBody>
          <a:bodyPr wrap="square" rtlCol="0" anchor="ctr"/>
          <a:lstStyle/>
          <a:p>
            <a:pPr marL="0" indent="0">
              <a:buNone/>
            </a:pPr>
            <a:r>
              <a:rPr lang="en-US" sz="1800" b="1" dirty="0">
                <a:solidFill>
                  <a:srgbClr val="B85042"/>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5257800" y="3108960"/>
            <a:ext cx="3474720" cy="41148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Protect the 'Others' channel</a:t>
            </a:r>
            <a:endParaRPr lang="en-US" sz="1200" dirty="0"/>
          </a:p>
        </p:txBody>
      </p:sp>
      <p:sp>
        <p:nvSpPr>
          <p:cNvPr id="19" name="Text 17"/>
          <p:cNvSpPr/>
          <p:nvPr/>
        </p:nvSpPr>
        <p:spPr>
          <a:xfrm>
            <a:off x="4846320" y="3566160"/>
            <a:ext cx="3886200" cy="1005840"/>
          </a:xfrm>
          <a:prstGeom prst="rect">
            <a:avLst/>
          </a:prstGeom>
          <a:noFill/>
          <a:ln/>
        </p:spPr>
        <p:txBody>
          <a:bodyPr wrap="square" rtlCol="0" anchor="ctr"/>
          <a:lstStyle/>
          <a:p>
            <a:pPr marL="0" indent="0">
              <a:buNone/>
            </a:pPr>
            <a:r>
              <a:rPr lang="en-US" sz="1000" dirty="0">
                <a:solidFill>
                  <a:srgbClr val="595959"/>
                </a:solidFill>
                <a:latin typeface="Calibri" pitchFamily="34" charset="0"/>
                <a:ea typeface="Calibri" pitchFamily="34" charset="-122"/>
                <a:cs typeface="Calibri" pitchFamily="34" charset="-120"/>
              </a:rPr>
              <a:t>The only channel that grew (+5%) while everything else fell. Understand what it is doing differently and replicate it on the two biggest marketplaces where feasible.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5943600" y="1912151"/>
            <a:ext cx="3200400" cy="3200400"/>
          </a:xfrm>
          <a:prstGeom prst="ellipse">
            <a:avLst/>
          </a:prstGeom>
          <a:solidFill>
            <a:srgbClr val="B85042">
              <a:alpha val="20000"/>
            </a:srgbClr>
          </a:solidFill>
          <a:ln w="12700">
            <a:solidFill>
              <a:srgbClr val="B85042">
                <a:alpha val="20000"/>
              </a:srgbClr>
            </a:solidFill>
            <a:prstDash val="solid"/>
          </a:ln>
        </p:spPr>
      </p:sp>
      <p:sp>
        <p:nvSpPr>
          <p:cNvPr id="3" name="Text 1"/>
          <p:cNvSpPr/>
          <p:nvPr/>
        </p:nvSpPr>
        <p:spPr>
          <a:xfrm>
            <a:off x="548640" y="274320"/>
            <a:ext cx="640080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Recovery Math</a:t>
            </a:r>
            <a:endParaRPr lang="en-US" sz="2200" dirty="0"/>
          </a:p>
        </p:txBody>
      </p:sp>
      <p:sp>
        <p:nvSpPr>
          <p:cNvPr id="4" name="Text 2"/>
          <p:cNvSpPr/>
          <p:nvPr/>
        </p:nvSpPr>
        <p:spPr>
          <a:xfrm>
            <a:off x="548640" y="713232"/>
            <a:ext cx="6400800" cy="27432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A conservative estimate of what a focused reactivation campaign can recover.</a:t>
            </a:r>
            <a:endParaRPr lang="en-US" sz="1200" dirty="0"/>
          </a:p>
        </p:txBody>
      </p:sp>
      <p:sp>
        <p:nvSpPr>
          <p:cNvPr id="5" name="Shape 3"/>
          <p:cNvSpPr/>
          <p:nvPr/>
        </p:nvSpPr>
        <p:spPr>
          <a:xfrm>
            <a:off x="457200" y="1188720"/>
            <a:ext cx="4114800" cy="2011680"/>
          </a:xfrm>
          <a:prstGeom prst="roundRect">
            <a:avLst>
              <a:gd name="adj" fmla="val 5455"/>
            </a:avLst>
          </a:prstGeom>
          <a:solidFill>
            <a:srgbClr val="B85042"/>
          </a:solidFill>
          <a:ln w="12700">
            <a:solidFill>
              <a:srgbClr val="B85042"/>
            </a:solidFill>
            <a:prstDash val="solid"/>
          </a:ln>
          <a:effectLst>
            <a:outerShdw blurRad="101600" dist="25400" dir="2700000" algn="bl" rotWithShape="0">
              <a:srgbClr val="000000">
                <a:alpha val="10000"/>
              </a:srgbClr>
            </a:outerShdw>
          </a:effectLst>
        </p:spPr>
      </p:sp>
      <p:sp>
        <p:nvSpPr>
          <p:cNvPr id="6" name="Text 4"/>
          <p:cNvSpPr/>
          <p:nvPr/>
        </p:nvSpPr>
        <p:spPr>
          <a:xfrm>
            <a:off x="548640" y="1280160"/>
            <a:ext cx="3931920" cy="1097280"/>
          </a:xfrm>
          <a:prstGeom prst="rect">
            <a:avLst/>
          </a:prstGeom>
          <a:noFill/>
          <a:ln/>
        </p:spPr>
        <p:txBody>
          <a:bodyPr wrap="square"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Rs.2M</a:t>
            </a:r>
            <a:endParaRPr lang="en-US" sz="7200" dirty="0"/>
          </a:p>
        </p:txBody>
      </p:sp>
      <p:sp>
        <p:nvSpPr>
          <p:cNvPr id="7" name="Text 5"/>
          <p:cNvSpPr/>
          <p:nvPr/>
        </p:nvSpPr>
        <p:spPr>
          <a:xfrm>
            <a:off x="548640" y="2331720"/>
            <a:ext cx="3931920" cy="365760"/>
          </a:xfrm>
          <a:prstGeom prst="rect">
            <a:avLst/>
          </a:prstGeom>
          <a:noFill/>
          <a:ln/>
        </p:spPr>
        <p:txBody>
          <a:bodyPr wrap="square" rtlCol="0" anchor="ctr"/>
          <a:lstStyle/>
          <a:p>
            <a:pPr marL="0" indent="0" algn="ctr">
              <a:buNone/>
            </a:pPr>
            <a:r>
              <a:rPr lang="en-US" sz="1400" dirty="0">
                <a:solidFill>
                  <a:srgbClr val="F0C8A0"/>
                </a:solidFill>
                <a:latin typeface="Calibri" pitchFamily="34" charset="0"/>
                <a:ea typeface="Calibri" pitchFamily="34" charset="-122"/>
                <a:cs typeface="Calibri" pitchFamily="34" charset="-120"/>
              </a:rPr>
              <a:t>annual revenue recovery</a:t>
            </a:r>
            <a:endParaRPr lang="en-US" sz="1400" dirty="0"/>
          </a:p>
        </p:txBody>
      </p:sp>
      <p:sp>
        <p:nvSpPr>
          <p:cNvPr id="8" name="Text 6"/>
          <p:cNvSpPr/>
          <p:nvPr/>
        </p:nvSpPr>
        <p:spPr>
          <a:xfrm>
            <a:off x="548640" y="2670048"/>
            <a:ext cx="3931920" cy="457200"/>
          </a:xfrm>
          <a:prstGeom prst="rect">
            <a:avLst/>
          </a:prstGeom>
          <a:noFill/>
          <a:ln/>
        </p:spPr>
        <p:txBody>
          <a:bodyPr wrap="square" rtlCol="0" anchor="ctr"/>
          <a:lstStyle/>
          <a:p>
            <a:pPr marL="0" indent="0" algn="ctr">
              <a:buNone/>
            </a:pPr>
            <a:r>
              <a:rPr lang="en-US" sz="1000" dirty="0">
                <a:solidFill>
                  <a:srgbClr val="F0C8A0"/>
                </a:solidFill>
                <a:latin typeface="Calibri" pitchFamily="34" charset="0"/>
                <a:ea typeface="Calibri" pitchFamily="34" charset="-122"/>
                <a:cs typeface="Calibri" pitchFamily="34" charset="-120"/>
              </a:rPr>
              <a:t>roughly 10% of total annual revenue restored</a:t>
            </a:r>
            <a:endParaRPr lang="en-US" sz="1000" dirty="0"/>
          </a:p>
          <a:p>
            <a:pPr marL="0" indent="0" algn="ctr">
              <a:buNone/>
            </a:pPr>
            <a:r>
              <a:rPr lang="en-US" sz="1000" dirty="0">
                <a:solidFill>
                  <a:srgbClr val="F0C8A0"/>
                </a:solidFill>
                <a:latin typeface="Calibri" pitchFamily="34" charset="0"/>
                <a:ea typeface="Calibri" pitchFamily="34" charset="-122"/>
                <a:cs typeface="Calibri" pitchFamily="34" charset="-120"/>
              </a:rPr>
              <a:t>from one focused intervention</a:t>
            </a:r>
            <a:endParaRPr lang="en-US" sz="1000" dirty="0"/>
          </a:p>
        </p:txBody>
      </p:sp>
      <p:sp>
        <p:nvSpPr>
          <p:cNvPr id="9" name="Text 7"/>
          <p:cNvSpPr/>
          <p:nvPr/>
        </p:nvSpPr>
        <p:spPr>
          <a:xfrm>
            <a:off x="4754880" y="1188720"/>
            <a:ext cx="4114800" cy="32004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How this is calculated:</a:t>
            </a:r>
            <a:endParaRPr lang="en-US" sz="1200" dirty="0"/>
          </a:p>
        </p:txBody>
      </p:sp>
      <p:sp>
        <p:nvSpPr>
          <p:cNvPr id="10" name="Text 8"/>
          <p:cNvSpPr/>
          <p:nvPr/>
        </p:nvSpPr>
        <p:spPr>
          <a:xfrm>
            <a:off x="4754880" y="1600200"/>
            <a:ext cx="4114800" cy="4754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1.  </a:t>
            </a:r>
            <a:r>
              <a:rPr lang="en-US" sz="1100" dirty="0">
                <a:solidFill>
                  <a:srgbClr val="CADCFC"/>
                </a:solidFill>
                <a:latin typeface="Calibri" pitchFamily="34" charset="0"/>
                <a:ea typeface="Calibri" pitchFamily="34" charset="-122"/>
                <a:cs typeface="Calibri" pitchFamily="34" charset="-120"/>
              </a:rPr>
              <a:t>Women customers lost Rs.324,684 monthly (all channels combined)</a:t>
            </a:r>
            <a:endParaRPr lang="en-US" sz="1100" dirty="0"/>
          </a:p>
        </p:txBody>
      </p:sp>
      <p:sp>
        <p:nvSpPr>
          <p:cNvPr id="11" name="Text 9"/>
          <p:cNvSpPr/>
          <p:nvPr/>
        </p:nvSpPr>
        <p:spPr>
          <a:xfrm>
            <a:off x="4754880" y="2148840"/>
            <a:ext cx="4114800" cy="4754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2.  </a:t>
            </a:r>
            <a:r>
              <a:rPr lang="en-US" sz="1100" dirty="0">
                <a:solidFill>
                  <a:srgbClr val="CADCFC"/>
                </a:solidFill>
                <a:latin typeface="Calibri" pitchFamily="34" charset="0"/>
                <a:ea typeface="Calibri" pitchFamily="34" charset="-122"/>
                <a:cs typeface="Calibri" pitchFamily="34" charset="-120"/>
              </a:rPr>
              <a:t>Targeting Myntra + Amazon covers 62% of that loss = Rs.201K per month</a:t>
            </a:r>
            <a:endParaRPr lang="en-US" sz="1100" dirty="0"/>
          </a:p>
        </p:txBody>
      </p:sp>
      <p:sp>
        <p:nvSpPr>
          <p:cNvPr id="12" name="Text 10"/>
          <p:cNvSpPr/>
          <p:nvPr/>
        </p:nvSpPr>
        <p:spPr>
          <a:xfrm>
            <a:off x="4754880" y="2697480"/>
            <a:ext cx="4114800" cy="4754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3.  </a:t>
            </a:r>
            <a:r>
              <a:rPr lang="en-US" sz="1100" dirty="0">
                <a:solidFill>
                  <a:srgbClr val="CADCFC"/>
                </a:solidFill>
                <a:latin typeface="Calibri" pitchFamily="34" charset="0"/>
                <a:ea typeface="Calibri" pitchFamily="34" charset="-122"/>
                <a:cs typeface="Calibri" pitchFamily="34" charset="-120"/>
              </a:rPr>
              <a:t>Recovering 50% of that amount = Rs.100K per month</a:t>
            </a:r>
            <a:endParaRPr lang="en-US" sz="1100" dirty="0"/>
          </a:p>
        </p:txBody>
      </p:sp>
      <p:sp>
        <p:nvSpPr>
          <p:cNvPr id="13" name="Text 11"/>
          <p:cNvSpPr/>
          <p:nvPr/>
        </p:nvSpPr>
        <p:spPr>
          <a:xfrm>
            <a:off x="4754880" y="3246120"/>
            <a:ext cx="4114800" cy="4754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4.  </a:t>
            </a:r>
            <a:r>
              <a:rPr lang="en-US" sz="1100" dirty="0">
                <a:solidFill>
                  <a:srgbClr val="CADCFC"/>
                </a:solidFill>
                <a:latin typeface="Calibri" pitchFamily="34" charset="0"/>
                <a:ea typeface="Calibri" pitchFamily="34" charset="-122"/>
                <a:cs typeface="Calibri" pitchFamily="34" charset="-120"/>
              </a:rPr>
              <a:t>Annualized = Rs.1.2M - call it Rs.2M targeting all channels at 50% recovery</a:t>
            </a:r>
            <a:endParaRPr lang="en-US" sz="1100" dirty="0"/>
          </a:p>
        </p:txBody>
      </p:sp>
      <p:sp>
        <p:nvSpPr>
          <p:cNvPr id="14" name="Text 12"/>
          <p:cNvSpPr/>
          <p:nvPr/>
        </p:nvSpPr>
        <p:spPr>
          <a:xfrm>
            <a:off x="4754880" y="3794760"/>
            <a:ext cx="4114800" cy="47548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5.  </a:t>
            </a:r>
            <a:r>
              <a:rPr lang="en-US" sz="1100" dirty="0">
                <a:solidFill>
                  <a:srgbClr val="CADCFC"/>
                </a:solidFill>
                <a:latin typeface="Calibri" pitchFamily="34" charset="0"/>
                <a:ea typeface="Calibri" pitchFamily="34" charset="-122"/>
                <a:cs typeface="Calibri" pitchFamily="34" charset="-120"/>
              </a:rPr>
              <a:t>This is a conservative estimate - actual depends on campaign execution</a:t>
            </a:r>
            <a:endParaRPr lang="en-US" sz="1100" dirty="0"/>
          </a:p>
        </p:txBody>
      </p:sp>
      <p:sp>
        <p:nvSpPr>
          <p:cNvPr id="15" name="Shape 13"/>
          <p:cNvSpPr/>
          <p:nvPr/>
        </p:nvSpPr>
        <p:spPr>
          <a:xfrm>
            <a:off x="411480" y="4431323"/>
            <a:ext cx="8321040" cy="0"/>
          </a:xfrm>
          <a:prstGeom prst="line">
            <a:avLst/>
          </a:prstGeom>
          <a:noFill/>
          <a:ln w="12700">
            <a:solidFill>
              <a:srgbClr val="334477"/>
            </a:solidFill>
            <a:prstDash val="solid"/>
          </a:ln>
        </p:spPr>
      </p:sp>
      <p:sp>
        <p:nvSpPr>
          <p:cNvPr id="16" name="Text 14"/>
          <p:cNvSpPr/>
          <p:nvPr/>
        </p:nvSpPr>
        <p:spPr>
          <a:xfrm>
            <a:off x="548640" y="3611880"/>
            <a:ext cx="8229600" cy="274320"/>
          </a:xfrm>
          <a:prstGeom prst="rect">
            <a:avLst/>
          </a:prstGeom>
          <a:noFill/>
          <a:ln/>
        </p:spPr>
        <p:txBody>
          <a:bodyPr wrap="square" rtlCol="0" anchor="ctr"/>
          <a:lstStyle/>
          <a:p>
            <a:pPr marL="0" indent="0">
              <a:buNone/>
            </a:pPr>
            <a:r>
              <a:rPr lang="en-US" sz="1100" b="1" dirty="0">
                <a:solidFill>
                  <a:srgbClr val="CADCFC"/>
                </a:solidFill>
                <a:latin typeface="Calibri" pitchFamily="34" charset="0"/>
                <a:ea typeface="Calibri" pitchFamily="34" charset="-122"/>
                <a:cs typeface="Calibri" pitchFamily="34" charset="-120"/>
              </a:rPr>
              <a:t>The six-step investigation in one line:</a:t>
            </a:r>
            <a:endParaRPr lang="en-US" sz="1100" dirty="0"/>
          </a:p>
        </p:txBody>
      </p:sp>
      <p:sp>
        <p:nvSpPr>
          <p:cNvPr id="17" name="Text 15"/>
          <p:cNvSpPr/>
          <p:nvPr/>
        </p:nvSpPr>
        <p:spPr>
          <a:xfrm>
            <a:off x="548640" y="3886200"/>
            <a:ext cx="4023360" cy="475488"/>
          </a:xfrm>
          <a:prstGeom prst="rect">
            <a:avLst/>
          </a:prstGeom>
          <a:noFill/>
          <a:ln/>
        </p:spPr>
        <p:txBody>
          <a:bodyPr wrap="square" rtlCol="0" anchor="ctr"/>
          <a:lstStyle/>
          <a:p>
            <a:pPr marL="0" indent="0">
              <a:buNone/>
            </a:pPr>
            <a:r>
              <a:rPr lang="en-US" sz="1100" i="1" dirty="0">
                <a:solidFill>
                  <a:srgbClr val="8899BB"/>
                </a:solidFill>
                <a:latin typeface="Calibri" pitchFamily="34" charset="0"/>
                <a:ea typeface="Calibri" pitchFamily="34" charset="-122"/>
                <a:cs typeface="Calibri" pitchFamily="34" charset="-120"/>
              </a:rPr>
              <a:t>Monthly trend → channel breakdown → category drill → demographic segmentation → stress test → recovery math.</a:t>
            </a:r>
            <a:endParaRPr lang="en-US" sz="1100" dirty="0"/>
          </a:p>
        </p:txBody>
      </p:sp>
      <p:sp>
        <p:nvSpPr>
          <p:cNvPr id="18" name="Text 16"/>
          <p:cNvSpPr/>
          <p:nvPr/>
        </p:nvSpPr>
        <p:spPr>
          <a:xfrm>
            <a:off x="548640" y="4480560"/>
            <a:ext cx="8229600" cy="36576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Victoria Johnson  </a:t>
            </a:r>
            <a:r>
              <a:rPr lang="en-US" sz="1000" dirty="0">
                <a:solidFill>
                  <a:srgbClr val="8899BB"/>
                </a:solidFill>
                <a:latin typeface="Calibri" pitchFamily="34" charset="0"/>
                <a:ea typeface="Calibri" pitchFamily="34" charset="-122"/>
                <a:cs typeface="Calibri" pitchFamily="34" charset="-120"/>
              </a:rPr>
              <a:t>|  Johnsonfisayo090@gmail.com  |  +1 (915) 209-5153  |  </a:t>
            </a:r>
            <a:r>
              <a:rPr lang="en-US" sz="1000" dirty="0">
                <a:solidFill>
                  <a:srgbClr val="8899BB"/>
                </a:solidFill>
                <a:latin typeface="Calibri" pitchFamily="34" charset="0"/>
                <a:ea typeface="Calibri" pitchFamily="34" charset="-122"/>
                <a:cs typeface="Calibri" pitchFamily="34" charset="-120"/>
                <a:hlinkClick r:id="rId3" action="ppaction://hlinkfile"/>
              </a:rPr>
              <a:t>github.com/Vickytoria-lab</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1094</Words>
  <Application>Microsoft Office PowerPoint</Application>
  <PresentationFormat>On-screen Show (16:9)</PresentationFormat>
  <Paragraphs>103</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Vrinda Store Revenue Decline Analysis</dc:title>
  <dc:subject>PptxGenJS Presentation</dc:subject>
  <dc:creator>Victoria Johnson</dc:creator>
  <cp:lastModifiedBy>Vicky Johnson</cp:lastModifiedBy>
  <cp:revision>4</cp:revision>
  <dcterms:created xsi:type="dcterms:W3CDTF">2026-07-05T02:48:17Z</dcterms:created>
  <dcterms:modified xsi:type="dcterms:W3CDTF">2026-07-17T09:31:14Z</dcterms:modified>
</cp:coreProperties>
</file>