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868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9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09127" y="2331720"/>
            <a:ext cx="1044655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Profit Brief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loss, and early signs of profit leakage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Johnson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332720" y="5120640"/>
            <a:ext cx="1005840" cy="1005840"/>
          </a:xfrm>
          <a:prstGeom prst="ellipse">
            <a:avLst/>
          </a:prstGeom>
          <a:solidFill>
            <a:srgbClr val="2A347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1" y="5241341"/>
            <a:ext cx="764438" cy="764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Superstore CEO Profit 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6187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 </a:t>
            </a: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profit generated, where is it leaking, and what actions should management take?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610" y="2344522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46304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$12.64M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25196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11650" y="2344522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21208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$1.47M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800100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60690" y="2344522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96112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11.61%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502920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Profit Comes From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02920" y="384962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3" name="Text 18"/>
          <p:cNvSpPr/>
          <p:nvPr/>
        </p:nvSpPr>
        <p:spPr>
          <a:xfrm>
            <a:off x="722376" y="374904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reached $12.64M, generating $1.47M net profit.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22376" y="411480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stands at 11.61%.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920" y="458114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7" name="Text 22"/>
          <p:cNvSpPr/>
          <p:nvPr/>
        </p:nvSpPr>
        <p:spPr>
          <a:xfrm>
            <a:off x="722376" y="448056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largest profit-driving category at $664K.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263640" y="3429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Profit Leaks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263640" y="384962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0" name="Text 25"/>
          <p:cNvSpPr/>
          <p:nvPr/>
        </p:nvSpPr>
        <p:spPr>
          <a:xfrm>
            <a:off x="6483096" y="374904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the only major sub-category generating losses -$64K.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483096" y="411480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orders generate negative profit.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263640" y="458114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4" name="Text 29"/>
          <p:cNvSpPr/>
          <p:nvPr/>
        </p:nvSpPr>
        <p:spPr>
          <a:xfrm>
            <a:off x="6483096" y="448056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Unprofitable orders reduced overall profit by approximately $921K</a:t>
            </a:r>
            <a:endParaRPr lang="en-US" sz="1250" dirty="0"/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7E1976BD-00A2-196B-5E04-6F089A5944F0}"/>
              </a:ext>
            </a:extLst>
          </p:cNvPr>
          <p:cNvSpPr/>
          <p:nvPr/>
        </p:nvSpPr>
        <p:spPr>
          <a:xfrm>
            <a:off x="503418" y="4178807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6" name="Shape 21">
            <a:extLst>
              <a:ext uri="{FF2B5EF4-FFF2-40B4-BE49-F238E27FC236}">
                <a16:creationId xmlns:a16="http://schemas.microsoft.com/office/drawing/2014/main" id="{0C7C86C8-0C8F-9D94-C860-A9808EB638EF}"/>
              </a:ext>
            </a:extLst>
          </p:cNvPr>
          <p:cNvSpPr/>
          <p:nvPr/>
        </p:nvSpPr>
        <p:spPr>
          <a:xfrm>
            <a:off x="6263640" y="4178807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PROFIT LEAKAGE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Leakage Diagnosis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618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 </a:t>
            </a: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destroying profit, and where are losses concentrated?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2344522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46304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$920.65K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25196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50" y="2344522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Orders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21208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12,500+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00100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60690" y="2344522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Losses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96112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~$370K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502920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</a:rPr>
              <a:t>Where losses are Concentrated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02920" y="384962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3" name="Text 18"/>
          <p:cNvSpPr/>
          <p:nvPr/>
        </p:nvSpPr>
        <p:spPr>
          <a:xfrm>
            <a:off x="722376" y="374904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losses from unprofitable orders amount to $920.65K.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02920" y="421538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5" name="Text 20"/>
          <p:cNvSpPr/>
          <p:nvPr/>
        </p:nvSpPr>
        <p:spPr>
          <a:xfrm>
            <a:off x="722376" y="411480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12,500 transactions generated negative profit.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920" y="458114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7" name="Text 22"/>
          <p:cNvSpPr/>
          <p:nvPr/>
        </p:nvSpPr>
        <p:spPr>
          <a:xfrm>
            <a:off x="722376" y="448056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the largest loss-making sub-category.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263640" y="3429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Losses Cluster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263640" y="384962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0" name="Text 25"/>
          <p:cNvSpPr/>
          <p:nvPr/>
        </p:nvSpPr>
        <p:spPr>
          <a:xfrm>
            <a:off x="6483096" y="374904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contributed approximately $370K of total losses from unprofitable orders.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6263640" y="421538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2" name="Text 27"/>
          <p:cNvSpPr/>
          <p:nvPr/>
        </p:nvSpPr>
        <p:spPr>
          <a:xfrm>
            <a:off x="6483096" y="411480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records the highest loss at approximately $202K.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263640" y="458114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4" name="Text 29"/>
          <p:cNvSpPr/>
          <p:nvPr/>
        </p:nvSpPr>
        <p:spPr>
          <a:xfrm>
            <a:off x="6483096" y="448056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one-third of all orders lose money.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777240" y="5596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777240" y="5985662"/>
            <a:ext cx="4989078" cy="707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strategy for Tables.</a:t>
            </a:r>
          </a:p>
          <a:p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high-loss regions and product combinations.</a:t>
            </a:r>
          </a:p>
          <a:p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profitability controls before approving large discounts.</a:t>
            </a:r>
            <a:endParaRPr lang="en-US" sz="11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DISCOUNT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Strategy Effectiveness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618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 </a:t>
            </a: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discounts driving profitable growth, or destroying value?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610" y="2344522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46304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14.3%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25196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50" y="2344522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on Discounted Orders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21208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$303K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00100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690" y="2344522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Above 30% Discount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96112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-51%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502920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Discounting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02920" y="384962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3" name="Text 18"/>
          <p:cNvSpPr/>
          <p:nvPr/>
        </p:nvSpPr>
        <p:spPr>
          <a:xfrm>
            <a:off x="722376" y="374904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across all orders is 14.3%.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02920" y="421538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5" name="Text 20"/>
          <p:cNvSpPr/>
          <p:nvPr/>
        </p:nvSpPr>
        <p:spPr>
          <a:xfrm>
            <a:off x="722376" y="411480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orders generated a net loss of $303K.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920" y="458114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7" name="Text 22"/>
          <p:cNvSpPr/>
          <p:nvPr/>
        </p:nvSpPr>
        <p:spPr>
          <a:xfrm>
            <a:off x="722376" y="448056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account for approximately $921K of lost profit.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263640" y="3429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263640" y="384962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0" name="Text 25"/>
          <p:cNvSpPr/>
          <p:nvPr/>
        </p:nvSpPr>
        <p:spPr>
          <a:xfrm>
            <a:off x="6483096" y="374904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discounts above 30% produce a profit margin of -51%.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6263640" y="421538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2" name="Text 27"/>
          <p:cNvSpPr/>
          <p:nvPr/>
        </p:nvSpPr>
        <p:spPr>
          <a:xfrm>
            <a:off x="6483096" y="411480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receives the highest average discounts.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263640" y="458114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4" name="Text 29"/>
          <p:cNvSpPr/>
          <p:nvPr/>
        </p:nvSpPr>
        <p:spPr>
          <a:xfrm>
            <a:off x="6483096" y="448056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declines consistently as discount levels increase.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77724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765080" y="5861303"/>
            <a:ext cx="5718016" cy="792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Review discounts above 20% to determine whether they remain commercially justified.</a:t>
            </a:r>
          </a:p>
          <a:p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approval for discounts exceeding 30%.</a:t>
            </a:r>
          </a:p>
          <a:p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discounts on categories that remain profitable after markdowns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endParaRPr lang="en-US" sz="1150" dirty="0"/>
          </a:p>
          <a:p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CUSTOMER &amp;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Operational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618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 </a:t>
            </a:r>
            <a:r>
              <a:rPr lang="en-US" sz="13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and operational factors contribute most to profitability?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2610" y="2344522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 Profit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46304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$749K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25196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11650" y="2344522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21208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$505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001000" y="201168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226771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60690" y="2344522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961120" y="24140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502920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Profit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02920" y="384962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3" name="Text 18"/>
          <p:cNvSpPr/>
          <p:nvPr/>
        </p:nvSpPr>
        <p:spPr>
          <a:xfrm>
            <a:off x="722376" y="374904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generates the highest profit at $749K.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02920" y="421538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5" name="Text 20"/>
          <p:cNvSpPr/>
          <p:nvPr/>
        </p:nvSpPr>
        <p:spPr>
          <a:xfrm>
            <a:off x="722376" y="411480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shipping delivers the highest profit at $891K.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920" y="458114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27" name="Text 22"/>
          <p:cNvSpPr/>
          <p:nvPr/>
        </p:nvSpPr>
        <p:spPr>
          <a:xfrm>
            <a:off x="722376" y="4480560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contribute a significant share of total profit.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263640" y="3429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263640" y="384962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0" name="Text 25"/>
          <p:cNvSpPr/>
          <p:nvPr/>
        </p:nvSpPr>
        <p:spPr>
          <a:xfrm>
            <a:off x="6483096" y="374904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is $505: average shipping cost is $26 per order.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6263640" y="421538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2" name="Text 27"/>
          <p:cNvSpPr/>
          <p:nvPr/>
        </p:nvSpPr>
        <p:spPr>
          <a:xfrm>
            <a:off x="6483096" y="411480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 is 4 days.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263640" y="4581144"/>
            <a:ext cx="82296" cy="82296"/>
          </a:xfrm>
          <a:prstGeom prst="ellipse">
            <a:avLst/>
          </a:prstGeom>
          <a:solidFill>
            <a:srgbClr val="C9952C"/>
          </a:solidFill>
          <a:ln/>
        </p:spPr>
      </p:sp>
      <p:sp>
        <p:nvSpPr>
          <p:cNvPr id="34" name="Text 29"/>
          <p:cNvSpPr/>
          <p:nvPr/>
        </p:nvSpPr>
        <p:spPr>
          <a:xfrm>
            <a:off x="6483096" y="448056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relationship was observed between delivery speed and profitability in this analysis.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777240" y="5638190"/>
            <a:ext cx="2743200" cy="29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777240" y="5961887"/>
            <a:ext cx="5568696" cy="73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of high-profit customers.</a:t>
            </a:r>
          </a:p>
          <a:p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focusing on Standard Class fulfillment.</a:t>
            </a:r>
          </a:p>
          <a:p>
            <a:r>
              <a:rPr 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segmentation and targeted promotions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40080" y="566928"/>
            <a:ext cx="918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RECOMMENDATIONS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Actions to Recover Profit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42C5C"/>
          </a:solidFill>
          <a:ln/>
        </p:spPr>
      </p:sp>
      <p:sp>
        <p:nvSpPr>
          <p:cNvPr id="7" name="Shape 4"/>
          <p:cNvSpPr/>
          <p:nvPr/>
        </p:nvSpPr>
        <p:spPr>
          <a:xfrm>
            <a:off x="896112" y="2039112"/>
            <a:ext cx="502920" cy="5029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554480" y="194767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excessive discounting, especially above 30%.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42C5C"/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2039112"/>
            <a:ext cx="502920" cy="5029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2" name="Text 9"/>
          <p:cNvSpPr/>
          <p:nvPr/>
        </p:nvSpPr>
        <p:spPr>
          <a:xfrm>
            <a:off x="651967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78040" y="194767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losses concentrated in Furniture and Tables.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3474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42C5C"/>
          </a:solidFill>
          <a:ln/>
        </p:spPr>
      </p:sp>
      <p:sp>
        <p:nvSpPr>
          <p:cNvPr id="15" name="Shape 12"/>
          <p:cNvSpPr/>
          <p:nvPr/>
        </p:nvSpPr>
        <p:spPr>
          <a:xfrm>
            <a:off x="896112" y="3730752"/>
            <a:ext cx="502920" cy="5029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6" name="Text 13"/>
          <p:cNvSpPr/>
          <p:nvPr/>
        </p:nvSpPr>
        <p:spPr>
          <a:xfrm>
            <a:off x="896112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554480" y="363931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loss concentration in the Central region.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263640" y="3474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42C5C"/>
          </a:solidFill>
          <a:ln/>
        </p:spPr>
      </p:sp>
      <p:sp>
        <p:nvSpPr>
          <p:cNvPr id="19" name="Shape 16"/>
          <p:cNvSpPr/>
          <p:nvPr/>
        </p:nvSpPr>
        <p:spPr>
          <a:xfrm>
            <a:off x="6519672" y="3730752"/>
            <a:ext cx="502920" cy="5029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20" name="Text 17"/>
          <p:cNvSpPr/>
          <p:nvPr/>
        </p:nvSpPr>
        <p:spPr>
          <a:xfrm>
            <a:off x="6519672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7178040" y="363931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and expand high-value customer relationships.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40080" y="5166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42C5C"/>
          </a:solidFill>
          <a:ln/>
        </p:spPr>
      </p:sp>
      <p:sp>
        <p:nvSpPr>
          <p:cNvPr id="23" name="Shape 20"/>
          <p:cNvSpPr/>
          <p:nvPr/>
        </p:nvSpPr>
        <p:spPr>
          <a:xfrm>
            <a:off x="896112" y="5422392"/>
            <a:ext cx="502920" cy="5029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24" name="Text 21"/>
          <p:cNvSpPr/>
          <p:nvPr/>
        </p:nvSpPr>
        <p:spPr>
          <a:xfrm>
            <a:off x="896112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1554480" y="533095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focus on profitable shipping methods.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263640" y="5166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42C5C"/>
          </a:solidFill>
          <a:ln/>
        </p:spPr>
      </p:sp>
      <p:sp>
        <p:nvSpPr>
          <p:cNvPr id="27" name="Shape 24"/>
          <p:cNvSpPr/>
          <p:nvPr/>
        </p:nvSpPr>
        <p:spPr>
          <a:xfrm>
            <a:off x="6519672" y="5422392"/>
            <a:ext cx="502920" cy="5029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28" name="Text 25"/>
          <p:cNvSpPr/>
          <p:nvPr/>
        </p:nvSpPr>
        <p:spPr>
          <a:xfrm>
            <a:off x="6519672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7178040" y="533095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profitability monitoring before discount approvals.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577</Words>
  <Application>Microsoft Office PowerPoint</Application>
  <PresentationFormat>Widescreen</PresentationFormat>
  <Paragraphs>105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Superstore: Profit Performance Review</dc:title>
  <dc:subject>PptxGenJS Presentation</dc:subject>
  <dc:creator>Victoria Johnson</dc:creator>
  <cp:lastModifiedBy>Vicky Johnson</cp:lastModifiedBy>
  <cp:revision>4</cp:revision>
  <dcterms:created xsi:type="dcterms:W3CDTF">2026-06-22T20:56:30Z</dcterms:created>
  <dcterms:modified xsi:type="dcterms:W3CDTF">2026-07-17T08:40:51Z</dcterms:modified>
</cp:coreProperties>
</file>