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01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1911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0780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00A896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HEALTHCARE OPERATIONS ANALYTICS</a:t>
            </a:r>
            <a:endParaRPr lang="en-US" sz="11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224028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mbria" pitchFamily="34" charset="-120"/>
              </a:rPr>
              <a:t>Hospital Emergency Room</a:t>
            </a:r>
            <a:endParaRPr lang="en-US" sz="5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mbria" pitchFamily="34" charset="-120"/>
              </a:rPr>
              <a:t>Performance Analysis</a:t>
            </a:r>
            <a:endParaRPr lang="en-US" sz="5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392818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0A896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Patient experience · Wait times · Operational efficiency · Demographics</a:t>
            </a:r>
            <a:endParaRPr lang="en-US" sz="15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603504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Victoria Johnson  |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· Power Query · Pivot Tables · Dashboard Design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 · BUSINESS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the Hospital Need to Know?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11155680" cy="530352"/>
          </a:xfrm>
          <a:prstGeom prst="rect">
            <a:avLst/>
          </a:prstGeom>
          <a:solidFill>
            <a:srgbClr val="F4F8F8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261872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Focus:  </a:t>
            </a:r>
            <a:r>
              <a:rPr lang="en-US" sz="1250" i="1" dirty="0">
                <a:solidFill>
                  <a:srgbClr val="5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hospital management improve ER performance, patient experience, and operational efficiency?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201168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F4F8F8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2377440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24028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long patient wait times?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201168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F4F8F8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2377440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0" y="224028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low patient satisfaction?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352044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F4F8F8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3886200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374904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departments face the highest pressure?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72200" y="352044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F4F8F8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0" y="3886200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374904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factors contribute to readmissions?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" y="4572000"/>
            <a:ext cx="11155680" cy="7498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4572000"/>
            <a:ext cx="10789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10,100 Emergency Room Visits · Departments · Wait Times · Satisfaction · Admissions · Demographics · Triage · Physicians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· DATA PREPARATION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Data to Reliable Analysis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11155680" cy="53035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261872"/>
            <a:ext cx="10908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Focus:  </a:t>
            </a:r>
            <a:r>
              <a:rPr lang="en-US" sz="1250" dirty="0">
                <a:solidFill>
                  <a:srgbClr val="5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quality issues existed in the raw data, and how were they resolved?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19202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Issues Found in Raw Data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2414016"/>
            <a:ext cx="91440" cy="9144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2331720"/>
            <a:ext cx="5148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5,523 missing Department values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798064"/>
            <a:ext cx="91440" cy="9144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0" name="Text 8"/>
          <p:cNvSpPr/>
          <p:nvPr/>
        </p:nvSpPr>
        <p:spPr>
          <a:xfrm>
            <a:off x="704088" y="2715768"/>
            <a:ext cx="5148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7,088 missing Satisfaction Scores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3182112"/>
            <a:ext cx="91440" cy="9144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3099816"/>
            <a:ext cx="5148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negative wait times + 14 × 999-min placeholders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566160"/>
            <a:ext cx="91440" cy="9144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" y="3483864"/>
            <a:ext cx="5148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coded as M / F / Male / Female / 'Femaleemaleemale'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3950208"/>
            <a:ext cx="91440" cy="9144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3867912"/>
            <a:ext cx="5148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as 1 / L1 / ESI 1 / Level 1 - all meaning the same thing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4334256"/>
            <a:ext cx="91440" cy="9144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" y="4251960"/>
            <a:ext cx="5148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as Morning / MORNING / Morning Shift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63640" y="19202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Did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44670" y="2410097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464808" y="2368296"/>
            <a:ext cx="5193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6 categorical fields (Gender, Shift, Triage, Admission, Readmission, Race)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92880" y="2955565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6464808" y="2852928"/>
            <a:ext cx="5193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missing categorical values with "Unknown" where appropriate to preserve row count.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66439" y="3368911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6464808" y="3291840"/>
            <a:ext cx="5193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blank satisfaction scores - absence of feedback ≠ poor satisfaction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06252" y="3737470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6464808" y="3657600"/>
            <a:ext cx="5193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30 invalid wait-time records (0.30% of dataset)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294122" y="4094086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9" name="Text 27"/>
          <p:cNvSpPr/>
          <p:nvPr/>
        </p:nvSpPr>
        <p:spPr>
          <a:xfrm>
            <a:off x="6464808" y="4005072"/>
            <a:ext cx="51937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date features: Year, Month, Day of Week, Hour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294122" y="4418605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6464808" y="4334256"/>
            <a:ext cx="5193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star schema: 1 Fact table + 4 Dimension tables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81460" y="5162441"/>
            <a:ext cx="11155680" cy="804672"/>
          </a:xfrm>
          <a:prstGeom prst="rect">
            <a:avLst/>
          </a:prstGeom>
          <a:solidFill>
            <a:srgbClr val="1C2B3A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" y="5342894"/>
            <a:ext cx="10789920" cy="4452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10,130 raw records  -  10,100 clean records  |  30 invalid wait-time records removed  |  Data quality issues documented in full audit report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· EXECUTIVE 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 at a Glance</a:t>
            </a:r>
            <a:endParaRPr lang="en-US" sz="3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43000"/>
            <a:ext cx="7406640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909560" y="1143000"/>
            <a:ext cx="4206240" cy="841248"/>
          </a:xfrm>
          <a:prstGeom prst="roundRect">
            <a:avLst>
              <a:gd name="adj" fmla="val 8696"/>
            </a:avLst>
          </a:prstGeom>
          <a:solidFill>
            <a:srgbClr val="F4F8F8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074152" y="1271016"/>
            <a:ext cx="3877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Visits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074152" y="1490472"/>
            <a:ext cx="3877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10,100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7909560" y="2057400"/>
            <a:ext cx="4206240" cy="841248"/>
          </a:xfrm>
          <a:prstGeom prst="roundRect">
            <a:avLst>
              <a:gd name="adj" fmla="val 8696"/>
            </a:avLst>
          </a:prstGeom>
          <a:solidFill>
            <a:srgbClr val="F4F8F8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074152" y="2185416"/>
            <a:ext cx="3877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Wait Time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74152" y="2404872"/>
            <a:ext cx="3877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 mins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7909560" y="2971800"/>
            <a:ext cx="4206240" cy="841248"/>
          </a:xfrm>
          <a:prstGeom prst="roundRect">
            <a:avLst>
              <a:gd name="adj" fmla="val 8696"/>
            </a:avLst>
          </a:prstGeom>
          <a:solidFill>
            <a:srgbClr val="F4F8F8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074152" y="3099816"/>
            <a:ext cx="3877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Rate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074152" y="3319272"/>
            <a:ext cx="3877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42.45%</a:t>
            </a:r>
            <a:endParaRPr lang="en-US" sz="2600" dirty="0"/>
          </a:p>
        </p:txBody>
      </p:sp>
      <p:sp>
        <p:nvSpPr>
          <p:cNvPr id="14" name="Shape 11"/>
          <p:cNvSpPr/>
          <p:nvPr/>
        </p:nvSpPr>
        <p:spPr>
          <a:xfrm>
            <a:off x="7909560" y="3886200"/>
            <a:ext cx="4206240" cy="841248"/>
          </a:xfrm>
          <a:prstGeom prst="roundRect">
            <a:avLst>
              <a:gd name="adj" fmla="val 8696"/>
            </a:avLst>
          </a:prstGeom>
          <a:solidFill>
            <a:srgbClr val="F4F8F8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074152" y="4014216"/>
            <a:ext cx="3877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Readmission Rate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074152" y="4233672"/>
            <a:ext cx="3877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8.99%</a:t>
            </a:r>
            <a:endParaRPr lang="en-US" sz="2600" dirty="0"/>
          </a:p>
        </p:txBody>
      </p:sp>
      <p:sp>
        <p:nvSpPr>
          <p:cNvPr id="17" name="Shape 14"/>
          <p:cNvSpPr/>
          <p:nvPr/>
        </p:nvSpPr>
        <p:spPr>
          <a:xfrm>
            <a:off x="7909560" y="4800600"/>
            <a:ext cx="4206240" cy="841248"/>
          </a:xfrm>
          <a:prstGeom prst="roundRect">
            <a:avLst>
              <a:gd name="adj" fmla="val 8696"/>
            </a:avLst>
          </a:prstGeom>
          <a:solidFill>
            <a:srgbClr val="F4F8F8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074152" y="4928616"/>
            <a:ext cx="3877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Satisfaction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8074152" y="5148072"/>
            <a:ext cx="3877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5.06/10</a:t>
            </a:r>
            <a:endParaRPr lang="en-US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· WAIT TIME ANALYSIS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Are Patients Waiting Longest?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61872"/>
            <a:ext cx="11384280" cy="53035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261872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Focus:  </a:t>
            </a:r>
            <a:r>
              <a:rPr lang="en-US" sz="1250" i="1" dirty="0">
                <a:solidFill>
                  <a:srgbClr val="5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departments, shifts, and physicians drive the longest wait times?</a:t>
            </a:r>
            <a:endParaRPr lang="en-US" sz="12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920240"/>
            <a:ext cx="7223760" cy="3794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18120" y="19202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818120" y="2414016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6"/>
          <p:cNvSpPr/>
          <p:nvPr/>
        </p:nvSpPr>
        <p:spPr>
          <a:xfrm>
            <a:off x="8019288" y="2331720"/>
            <a:ext cx="4050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wait: 31 minutes across all visits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818120" y="2798064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8"/>
          <p:cNvSpPr/>
          <p:nvPr/>
        </p:nvSpPr>
        <p:spPr>
          <a:xfrm>
            <a:off x="8019288" y="2715768"/>
            <a:ext cx="4050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Longest individual wait: 199 minutes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818120" y="3182112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0"/>
          <p:cNvSpPr/>
          <p:nvPr/>
        </p:nvSpPr>
        <p:spPr>
          <a:xfrm>
            <a:off x="8019288" y="3099816"/>
            <a:ext cx="4050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8.81% of patients waited over 60 minutes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818120" y="3566160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2"/>
          <p:cNvSpPr/>
          <p:nvPr/>
        </p:nvSpPr>
        <p:spPr>
          <a:xfrm>
            <a:off x="8019288" y="3483864"/>
            <a:ext cx="4050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Gastroenterology has the highest dept average (32.7 mins)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818120" y="3950208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4"/>
          <p:cNvSpPr/>
          <p:nvPr/>
        </p:nvSpPr>
        <p:spPr>
          <a:xfrm>
            <a:off x="8019288" y="3867912"/>
            <a:ext cx="4050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 shift shows longest waits vs Morning and Night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818120" y="4270248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6"/>
          <p:cNvSpPr/>
          <p:nvPr/>
        </p:nvSpPr>
        <p:spPr>
          <a:xfrm>
            <a:off x="8019288" y="4215384"/>
            <a:ext cx="4050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wait times varied little across triage levels in this dataset.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7818120" y="4718304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8"/>
          <p:cNvSpPr/>
          <p:nvPr/>
        </p:nvSpPr>
        <p:spPr>
          <a:xfrm>
            <a:off x="8019288" y="4636008"/>
            <a:ext cx="4050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Smith averages 36.28 mins - highest among all physicians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11480" y="5806440"/>
            <a:ext cx="11155680" cy="883608"/>
          </a:xfrm>
          <a:prstGeom prst="rect">
            <a:avLst/>
          </a:prstGeom>
          <a:solidFill>
            <a:srgbClr val="1C2B3A"/>
          </a:solidFill>
          <a:ln/>
        </p:spPr>
      </p:sp>
      <p:sp>
        <p:nvSpPr>
          <p:cNvPr id="23" name="Text 20"/>
          <p:cNvSpPr/>
          <p:nvPr/>
        </p:nvSpPr>
        <p:spPr>
          <a:xfrm>
            <a:off x="777240" y="5834896"/>
            <a:ext cx="2889691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777240" y="6136649"/>
            <a:ext cx="3352800" cy="33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Gastroenterology bottlenecks and capacity.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312920" y="6136649"/>
            <a:ext cx="3352800" cy="33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afternoon shift staffing levels.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7848600" y="6136649"/>
            <a:ext cx="3352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high-wait physicians for workflow inefficiencies.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00A896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SLIDE 5 · PATIENT SATISFACTION</a:t>
            </a:r>
            <a:endParaRPr lang="en-US" sz="1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B3A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What Drives Patient Experience?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11155680" cy="530352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5" name="Text 3"/>
          <p:cNvSpPr/>
          <p:nvPr/>
        </p:nvSpPr>
        <p:spPr>
          <a:xfrm>
            <a:off x="533400" y="1261872"/>
            <a:ext cx="10878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B3A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Business Focus:  </a:t>
            </a:r>
            <a:r>
              <a:rPr lang="en-US" sz="1250" dirty="0">
                <a:solidFill>
                  <a:srgbClr val="5B7A8A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Which departments and physicians score highest and lowest on patient satisfaction?</a:t>
            </a:r>
            <a:endParaRPr lang="en-US" sz="125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920240"/>
            <a:ext cx="7223760" cy="3794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18120" y="19202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809365" y="2471311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6"/>
          <p:cNvSpPr/>
          <p:nvPr/>
        </p:nvSpPr>
        <p:spPr>
          <a:xfrm>
            <a:off x="8019288" y="2400300"/>
            <a:ext cx="4050792" cy="278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average satisfaction: 5.06 out of 10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809365" y="2697481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8"/>
          <p:cNvSpPr/>
          <p:nvPr/>
        </p:nvSpPr>
        <p:spPr>
          <a:xfrm>
            <a:off x="8019288" y="2615184"/>
            <a:ext cx="3976084" cy="292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Gastroenterology leads at 5.75 - highest department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818120" y="2958083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0"/>
          <p:cNvSpPr/>
          <p:nvPr/>
        </p:nvSpPr>
        <p:spPr>
          <a:xfrm>
            <a:off x="8019288" y="2875983"/>
            <a:ext cx="4050792" cy="34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Physiotherapy trails at 4.56 lowest department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818120" y="3195828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2"/>
          <p:cNvSpPr/>
          <p:nvPr/>
        </p:nvSpPr>
        <p:spPr>
          <a:xfrm>
            <a:off x="8019288" y="3136391"/>
            <a:ext cx="4050792" cy="292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37.4% of patients rated 7 to 10 (Highly Satisfied)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819093" y="3520246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4"/>
          <p:cNvSpPr/>
          <p:nvPr/>
        </p:nvSpPr>
        <p:spPr>
          <a:xfrm>
            <a:off x="8019288" y="3447288"/>
            <a:ext cx="4050792" cy="315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 shift scores highest at 5.08 vs Morning at 4.96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818120" y="3796997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6"/>
          <p:cNvSpPr/>
          <p:nvPr/>
        </p:nvSpPr>
        <p:spPr>
          <a:xfrm>
            <a:off x="8019288" y="3729305"/>
            <a:ext cx="4050792" cy="993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who waited 60 minutes or longer recorded higher average satisfaction scores in this dataset. 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investigation would be needed to understand the factors contributing to this pattern.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7809365" y="4206241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8"/>
          <p:cNvSpPr/>
          <p:nvPr/>
        </p:nvSpPr>
        <p:spPr>
          <a:xfrm>
            <a:off x="8019288" y="4690873"/>
            <a:ext cx="4050792" cy="332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physician: Martinez, D. at 3.80 average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274320" y="5806441"/>
            <a:ext cx="11399520" cy="1060700"/>
          </a:xfrm>
          <a:prstGeom prst="rect">
            <a:avLst/>
          </a:prstGeom>
          <a:solidFill>
            <a:srgbClr val="1C2B3A"/>
          </a:solidFill>
          <a:ln/>
        </p:spPr>
      </p:sp>
      <p:sp>
        <p:nvSpPr>
          <p:cNvPr id="23" name="Text 20"/>
          <p:cNvSpPr/>
          <p:nvPr/>
        </p:nvSpPr>
        <p:spPr>
          <a:xfrm>
            <a:off x="777240" y="5843016"/>
            <a:ext cx="3657600" cy="263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777240" y="6198185"/>
            <a:ext cx="3352800" cy="263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Physiotherapy and Emergency care gaps.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297680" y="6085844"/>
            <a:ext cx="3352800" cy="384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factors associated with higher satisfaction in Gastroenterology to determine whether any practices could be applied more broadly.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7848600" y="6106745"/>
            <a:ext cx="3352800" cy="329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lowest-rated physicians for targeted coaching.</a:t>
            </a:r>
            <a:endParaRPr lang="en-US" sz="1150" dirty="0"/>
          </a:p>
        </p:txBody>
      </p:sp>
      <p:sp>
        <p:nvSpPr>
          <p:cNvPr id="27" name="Shape 17">
            <a:extLst>
              <a:ext uri="{FF2B5EF4-FFF2-40B4-BE49-F238E27FC236}">
                <a16:creationId xmlns:a16="http://schemas.microsoft.com/office/drawing/2014/main" id="{3D685FC1-5591-3363-F138-0F7428DF4505}"/>
              </a:ext>
            </a:extLst>
          </p:cNvPr>
          <p:cNvSpPr/>
          <p:nvPr/>
        </p:nvSpPr>
        <p:spPr>
          <a:xfrm>
            <a:off x="7807744" y="4782311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· PATIENT DEMOGRAPHICS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Coming to the ER?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11155680" cy="530352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5" name="Text 3"/>
          <p:cNvSpPr/>
          <p:nvPr/>
        </p:nvSpPr>
        <p:spPr>
          <a:xfrm>
            <a:off x="438912" y="126187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Focus:  </a:t>
            </a:r>
            <a:r>
              <a:rPr lang="en-US" sz="1250" dirty="0">
                <a:solidFill>
                  <a:srgbClr val="5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patient population look like and when do they arrive?</a:t>
            </a:r>
            <a:endParaRPr lang="en-US" sz="12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920240"/>
            <a:ext cx="7223760" cy="3794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18120" y="19202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818120" y="2414016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6"/>
          <p:cNvSpPr/>
          <p:nvPr/>
        </p:nvSpPr>
        <p:spPr>
          <a:xfrm>
            <a:off x="8019288" y="2331720"/>
            <a:ext cx="4050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patient age: 45 years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818120" y="2798064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8"/>
          <p:cNvSpPr/>
          <p:nvPr/>
        </p:nvSpPr>
        <p:spPr>
          <a:xfrm>
            <a:off x="8019288" y="2715768"/>
            <a:ext cx="4050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split is near-even: 50.35% Female, 49.65% Male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818120" y="3182112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0"/>
          <p:cNvSpPr/>
          <p:nvPr/>
        </p:nvSpPr>
        <p:spPr>
          <a:xfrm>
            <a:off x="8019288" y="3099816"/>
            <a:ext cx="4050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age group: 31–45 (2,778 visits)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818120" y="3566160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2"/>
          <p:cNvSpPr/>
          <p:nvPr/>
        </p:nvSpPr>
        <p:spPr>
          <a:xfrm>
            <a:off x="8019288" y="3483864"/>
            <a:ext cx="4050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Busiest months: March (861), May (874), August (861)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818120" y="3950208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4"/>
          <p:cNvSpPr/>
          <p:nvPr/>
        </p:nvSpPr>
        <p:spPr>
          <a:xfrm>
            <a:off x="8019288" y="3867912"/>
            <a:ext cx="4050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average: 28 ER visits per day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818120" y="4334256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6"/>
          <p:cNvSpPr/>
          <p:nvPr/>
        </p:nvSpPr>
        <p:spPr>
          <a:xfrm>
            <a:off x="8019288" y="4251960"/>
            <a:ext cx="4050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patients are the largest racial group (2,806 visits)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7818120" y="4718304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8"/>
          <p:cNvSpPr/>
          <p:nvPr/>
        </p:nvSpPr>
        <p:spPr>
          <a:xfrm>
            <a:off x="8019288" y="4636008"/>
            <a:ext cx="4050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age is consistent across all departments (43–48)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02920" y="5751576"/>
            <a:ext cx="11155680" cy="982513"/>
          </a:xfrm>
          <a:prstGeom prst="rect">
            <a:avLst/>
          </a:prstGeom>
          <a:solidFill>
            <a:srgbClr val="1C2B3A"/>
          </a:solidFill>
          <a:ln/>
        </p:spPr>
      </p:sp>
      <p:sp>
        <p:nvSpPr>
          <p:cNvPr id="23" name="Text 20"/>
          <p:cNvSpPr/>
          <p:nvPr/>
        </p:nvSpPr>
        <p:spPr>
          <a:xfrm>
            <a:off x="777240" y="57870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777240" y="6171080"/>
            <a:ext cx="335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for peak months: March, May, and August.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312920" y="6043064"/>
            <a:ext cx="335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31 - 45 age group receives age-appropriate triage resources.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7848600" y="6043064"/>
            <a:ext cx="362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wait times and satisfaction across patient groups to identify any meaningful differences over time.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DEMONSTRATED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Proves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5349240" cy="1207008"/>
          </a:xfrm>
          <a:prstGeom prst="roundRect">
            <a:avLst>
              <a:gd name="adj" fmla="val 5303"/>
            </a:avLst>
          </a:prstGeom>
          <a:solidFill>
            <a:srgbClr val="1A2E3A"/>
          </a:solidFill>
          <a:ln/>
        </p:spPr>
      </p:sp>
      <p:sp>
        <p:nvSpPr>
          <p:cNvPr id="6" name="Shape 4"/>
          <p:cNvSpPr/>
          <p:nvPr/>
        </p:nvSpPr>
        <p:spPr>
          <a:xfrm>
            <a:off x="704088" y="1755648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1161288" y="1700784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&amp; Power Query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04088" y="2084832"/>
            <a:ext cx="4965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and cleaned 10,130 raw records; standardized 8 categorical fields; engineered date features for time-series analysis.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1554480"/>
            <a:ext cx="5349240" cy="1207008"/>
          </a:xfrm>
          <a:prstGeom prst="roundRect">
            <a:avLst>
              <a:gd name="adj" fmla="val 5303"/>
            </a:avLst>
          </a:prstGeom>
          <a:solidFill>
            <a:srgbClr val="1A2E3A"/>
          </a:solidFill>
          <a:ln/>
        </p:spPr>
      </p:sp>
      <p:sp>
        <p:nvSpPr>
          <p:cNvPr id="10" name="Shape 8"/>
          <p:cNvSpPr/>
          <p:nvPr/>
        </p:nvSpPr>
        <p:spPr>
          <a:xfrm>
            <a:off x="6327648" y="1755648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784848" y="1700784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Tables &amp; DAX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327648" y="2084832"/>
            <a:ext cx="4965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structured pivot tables for wait time, satisfaction, demographics, and physician performance across multiple dimensions.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990088"/>
            <a:ext cx="5349240" cy="1207008"/>
          </a:xfrm>
          <a:prstGeom prst="roundRect">
            <a:avLst>
              <a:gd name="adj" fmla="val 5303"/>
            </a:avLst>
          </a:prstGeom>
          <a:solidFill>
            <a:srgbClr val="1A2E3A"/>
          </a:solidFill>
          <a:ln/>
        </p:spPr>
      </p:sp>
      <p:sp>
        <p:nvSpPr>
          <p:cNvPr id="14" name="Shape 12"/>
          <p:cNvSpPr/>
          <p:nvPr/>
        </p:nvSpPr>
        <p:spPr>
          <a:xfrm>
            <a:off x="704088" y="3191256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1161288" y="313639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04088" y="3520440"/>
            <a:ext cx="4965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and resolved missing values, invalid records, inconsistent categories, and data-entry errors in a formal audit report.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2990088"/>
            <a:ext cx="5349240" cy="1207008"/>
          </a:xfrm>
          <a:prstGeom prst="roundRect">
            <a:avLst>
              <a:gd name="adj" fmla="val 5303"/>
            </a:avLst>
          </a:prstGeom>
          <a:solidFill>
            <a:srgbClr val="1A2E3A"/>
          </a:solidFill>
          <a:ln/>
        </p:spPr>
      </p:sp>
      <p:sp>
        <p:nvSpPr>
          <p:cNvPr id="18" name="Shape 16"/>
          <p:cNvSpPr/>
          <p:nvPr/>
        </p:nvSpPr>
        <p:spPr>
          <a:xfrm>
            <a:off x="6327648" y="3191256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6784848" y="313639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Design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327648" y="3520440"/>
            <a:ext cx="4965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four linked dashboards in Excel covering executive KPIs, wait time, satisfaction, and patient demographics.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4425696"/>
            <a:ext cx="5349240" cy="1207008"/>
          </a:xfrm>
          <a:prstGeom prst="roundRect">
            <a:avLst>
              <a:gd name="adj" fmla="val 5303"/>
            </a:avLst>
          </a:prstGeom>
          <a:solidFill>
            <a:srgbClr val="1A2E3A"/>
          </a:solidFill>
          <a:ln/>
        </p:spPr>
      </p:sp>
      <p:sp>
        <p:nvSpPr>
          <p:cNvPr id="22" name="Shape 20"/>
          <p:cNvSpPr/>
          <p:nvPr/>
        </p:nvSpPr>
        <p:spPr>
          <a:xfrm>
            <a:off x="704088" y="4626864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1161288" y="457200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Analysis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04088" y="4956048"/>
            <a:ext cx="4965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Framed four business questions, derived actionable findings, and produced specific operational recommendations per dashboard.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0" y="4425696"/>
            <a:ext cx="5349240" cy="1207008"/>
          </a:xfrm>
          <a:prstGeom prst="roundRect">
            <a:avLst>
              <a:gd name="adj" fmla="val 5303"/>
            </a:avLst>
          </a:prstGeom>
          <a:solidFill>
            <a:srgbClr val="1A2E3A"/>
          </a:solidFill>
          <a:ln/>
        </p:spPr>
      </p:sp>
      <p:sp>
        <p:nvSpPr>
          <p:cNvPr id="26" name="Shape 24"/>
          <p:cNvSpPr/>
          <p:nvPr/>
        </p:nvSpPr>
        <p:spPr>
          <a:xfrm>
            <a:off x="6327648" y="4626864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6784848" y="457200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Storytelling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327648" y="4956048"/>
            <a:ext cx="4965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the project as question → data → finding → recommendation - the same framework used in professional BI reporting.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874</Words>
  <Application>Microsoft Office PowerPoint</Application>
  <PresentationFormat>Widescreen</PresentationFormat>
  <Paragraphs>111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ER Performance Analysis</dc:title>
  <dc:subject>PptxGenJS Presentation</dc:subject>
  <dc:creator>Victoria Johnson</dc:creator>
  <cp:lastModifiedBy>Vicky Johnson</cp:lastModifiedBy>
  <cp:revision>3</cp:revision>
  <dcterms:created xsi:type="dcterms:W3CDTF">2026-06-30T08:48:59Z</dcterms:created>
  <dcterms:modified xsi:type="dcterms:W3CDTF">2026-07-17T08:59:18Z</dcterms:modified>
</cp:coreProperties>
</file>