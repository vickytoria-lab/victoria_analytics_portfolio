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1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0321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chemeClr val="bg2">
              <a:lumMod val="75000"/>
            </a:schemeClr>
          </a:solidFill>
          <a:ln/>
        </p:spPr>
      </p:sp>
      <p:sp>
        <p:nvSpPr>
          <p:cNvPr id="3" name="Shape 1"/>
          <p:cNvSpPr/>
          <p:nvPr/>
        </p:nvSpPr>
        <p:spPr>
          <a:xfrm>
            <a:off x="9604248" y="5303520"/>
            <a:ext cx="2587752" cy="155448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SAFETY &amp; TRANSPORT ANALYTICS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2176272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London Transport</a:t>
            </a:r>
            <a:endParaRPr lang="en-US" sz="4600" dirty="0"/>
          </a:p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Crime Analysis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639312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FY2009/10 - FY2023/24  ·  904,790 reported incidents  ·  9 transport modes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603504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Victoria Johnson  |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 ·  Excel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· PROJECT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This Investigation Set Out to Answer?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50292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13232" y="1261872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Focus:  </a:t>
            </a:r>
            <a:r>
              <a:rPr lang="en-US" sz="1250" dirty="0">
                <a:solidFill>
                  <a:srgbClr val="5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London transport modes are most affected by crime, and how have patterns changed over 15 years?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19202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2414016"/>
            <a:ext cx="91440" cy="9144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" y="2331720"/>
            <a:ext cx="5148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which transport modes carry the highest crime burden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798064"/>
            <a:ext cx="91440" cy="9144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10" name="Text 8"/>
          <p:cNvSpPr/>
          <p:nvPr/>
        </p:nvSpPr>
        <p:spPr>
          <a:xfrm>
            <a:off x="704088" y="2715768"/>
            <a:ext cx="5148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how total crime has changed across 15 fiscal years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3182112"/>
            <a:ext cx="91440" cy="9144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" y="3099816"/>
            <a:ext cx="5148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Uncover seasonal and monthly crime patterns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566160"/>
            <a:ext cx="91440" cy="9144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14" name="Text 12"/>
          <p:cNvSpPr/>
          <p:nvPr/>
        </p:nvSpPr>
        <p:spPr>
          <a:xfrm>
            <a:off x="704088" y="3483864"/>
            <a:ext cx="5148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risk matrix to prioritize security resource allocation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0760" y="2002536"/>
            <a:ext cx="5394960" cy="2926080"/>
          </a:xfrm>
          <a:prstGeom prst="roundRect">
            <a:avLst>
              <a:gd name="adj" fmla="val 2500"/>
            </a:avLst>
          </a:prstGeom>
          <a:solidFill>
            <a:srgbClr val="F5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0574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92240" y="24871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366760" y="24871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 Transport Crime Dataset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2852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Period: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66760" y="28529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FY2009/10 -  FY2023/24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32186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Years: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366760" y="32186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years of data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35844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Modes: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66760" y="358444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modes including Bus, Underground, Rail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39502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Crimes: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66760" y="39502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904,790 reported incidents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43159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Incidents: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66760" y="43159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chemeClr val="tx2">
                    <a:lumMod val="75000"/>
                  </a:schemeClr>
                </a:solidFill>
              </a:rPr>
              <a:t>904,790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· EXECUTIVE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Crime at a Glance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15568"/>
            <a:ext cx="7498080" cy="46634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001000" y="1115568"/>
            <a:ext cx="411480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165592" y="1225296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Reported Crimes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8165592" y="1444752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904,790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8001000" y="2011680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5F7FA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9" name="Text 6"/>
          <p:cNvSpPr/>
          <p:nvPr/>
        </p:nvSpPr>
        <p:spPr>
          <a:xfrm>
            <a:off x="8165592" y="2121408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Period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165592" y="2340864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6D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Fiscal Years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8001000" y="2907792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5F7FA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165592" y="3017520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Crime Mode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165592" y="3236976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6D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8001000" y="3803904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5F7FA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165592" y="3913632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Total Crimes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165592" y="4133088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6D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270,107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8001000" y="4700016"/>
            <a:ext cx="4114800" cy="822960"/>
          </a:xfrm>
          <a:prstGeom prst="roundRect">
            <a:avLst>
              <a:gd name="adj" fmla="val 8889"/>
            </a:avLst>
          </a:prstGeom>
          <a:solidFill>
            <a:srgbClr val="F5F7FA"/>
          </a:solidFill>
          <a:ln/>
          <a:effectLst>
            <a:outerShdw blurRad="635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165592" y="4809744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Crime Months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165592" y="5029200"/>
            <a:ext cx="37856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6DA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 - Nov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26761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2E6DA4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SLIDE 3 · TREND ANALYSIS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Has Crime Changed Over 15 Years?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261872"/>
            <a:ext cx="11155680" cy="50292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261872"/>
            <a:ext cx="11137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3557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Business Focus:  </a:t>
            </a:r>
            <a:r>
              <a:rPr lang="en-US" sz="1250" i="1" dirty="0">
                <a:solidFill>
                  <a:srgbClr val="5B7A9A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Is crime rising, falling, or cyclical -  and which months drive the peaks?</a:t>
            </a:r>
            <a:endParaRPr lang="en-US" sz="12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920240"/>
            <a:ext cx="7498080" cy="3840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01000" y="1920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7909560" y="2302515"/>
            <a:ext cx="91440" cy="9144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9" name="Text 6"/>
          <p:cNvSpPr/>
          <p:nvPr/>
        </p:nvSpPr>
        <p:spPr>
          <a:xfrm>
            <a:off x="8142732" y="2260620"/>
            <a:ext cx="3867912" cy="612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higher incident volumes observed in November and other high-volume months to support seasonal resource planning.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909560" y="2993540"/>
            <a:ext cx="91440" cy="9144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11" name="Text 8"/>
          <p:cNvSpPr/>
          <p:nvPr/>
        </p:nvSpPr>
        <p:spPr>
          <a:xfrm>
            <a:off x="8142732" y="2942408"/>
            <a:ext cx="3867912" cy="6511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FY2020/21 separately when comparing long-term trends because travel patterns were affected by the COVID-19 pandemic.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895484" y="3632221"/>
            <a:ext cx="91440" cy="9144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15" name="Text 12"/>
          <p:cNvSpPr/>
          <p:nvPr/>
        </p:nvSpPr>
        <p:spPr>
          <a:xfrm>
            <a:off x="8142732" y="3593591"/>
            <a:ext cx="3867912" cy="6184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London Underground November pattern in more detail to identify locations or crime categories contributing to the higher volume.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7922623" y="4343400"/>
            <a:ext cx="91440" cy="9144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17" name="Text 14"/>
          <p:cNvSpPr/>
          <p:nvPr/>
        </p:nvSpPr>
        <p:spPr>
          <a:xfrm>
            <a:off x="8142732" y="4279392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highest-volume months were November, March, October, December, and January.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926355" y="4775221"/>
            <a:ext cx="91440" cy="9144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19" name="Text 16"/>
          <p:cNvSpPr/>
          <p:nvPr/>
        </p:nvSpPr>
        <p:spPr>
          <a:xfrm>
            <a:off x="8142732" y="4700016"/>
            <a:ext cx="3867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recorded consistently high incident volumes across months in the heat map.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922623" y="5194165"/>
            <a:ext cx="91440" cy="9144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21" name="Text 18"/>
          <p:cNvSpPr/>
          <p:nvPr/>
        </p:nvSpPr>
        <p:spPr>
          <a:xfrm>
            <a:off x="8142732" y="5102352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Underground recorded 10,440 incidents in November, its highest monthly value shown in the analysis.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777240" y="5916168"/>
            <a:ext cx="18260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chemeClr val="tx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0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4" name="Text 21"/>
          <p:cNvSpPr/>
          <p:nvPr/>
        </p:nvSpPr>
        <p:spPr>
          <a:xfrm>
            <a:off x="777240" y="6190488"/>
            <a:ext cx="335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Plan for year-end crime surge every Nov - Jan.</a:t>
            </a:r>
            <a:endParaRPr lang="en-US" sz="115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5" name="Text 22"/>
          <p:cNvSpPr/>
          <p:nvPr/>
        </p:nvSpPr>
        <p:spPr>
          <a:xfrm>
            <a:off x="4312920" y="6190488"/>
            <a:ext cx="335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Apply COVID-dip context when benchmarking FY2020/21.</a:t>
            </a:r>
            <a:endParaRPr lang="en-US" sz="1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6" name="Text 23"/>
          <p:cNvSpPr/>
          <p:nvPr/>
        </p:nvSpPr>
        <p:spPr>
          <a:xfrm>
            <a:off x="7848600" y="6153912"/>
            <a:ext cx="335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latin typeface="Cambria Math" panose="02040503050406030204" pitchFamily="18" charset="0"/>
                <a:ea typeface="Cambria Math" panose="02040503050406030204" pitchFamily="18" charset="0"/>
                <a:cs typeface="Calibri" pitchFamily="34" charset="-120"/>
              </a:rPr>
              <a:t>Monitor Underground's November spike specifically.</a:t>
            </a:r>
            <a:endParaRPr lang="en-US" sz="115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· ADVANCED ANALYTICS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350196" y="566928"/>
            <a:ext cx="111255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C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by Mode - Where Is Crime Concentrated?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74320" y="1271016"/>
            <a:ext cx="11137392" cy="502920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</p:sp>
      <p:sp>
        <p:nvSpPr>
          <p:cNvPr id="5" name="Text 3"/>
          <p:cNvSpPr/>
          <p:nvPr/>
        </p:nvSpPr>
        <p:spPr>
          <a:xfrm>
            <a:off x="350196" y="1012358"/>
            <a:ext cx="10136221" cy="628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Focus:  </a:t>
            </a:r>
            <a:r>
              <a:rPr lang="en-US" sz="1250" dirty="0">
                <a:solidFill>
                  <a:srgbClr val="5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transport modes recorded the highest reported crime volume, and how do they compare using the available rate measure?</a:t>
            </a:r>
            <a:endParaRPr lang="en-US" sz="12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773936"/>
            <a:ext cx="7498080" cy="39867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01000" y="19202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35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001000" y="2414016"/>
            <a:ext cx="91440" cy="9144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9" name="Text 6"/>
          <p:cNvSpPr/>
          <p:nvPr/>
        </p:nvSpPr>
        <p:spPr>
          <a:xfrm>
            <a:off x="8200416" y="2315182"/>
            <a:ext cx="3869663" cy="3190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recorded the highest number of reported incidents with 270,107 across the analysis period.</a:t>
            </a:r>
          </a:p>
          <a:p>
            <a:pPr marL="0" indent="0">
              <a:buNone/>
            </a:pPr>
            <a:endParaRPr lang="en-US" sz="1300" dirty="0">
              <a:solidFill>
                <a:srgbClr val="1C355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London Underground recorded the highest average rate value among the transport modes in the dataset.</a:t>
            </a:r>
          </a:p>
          <a:p>
            <a:pPr marL="0" indent="0">
              <a:buNone/>
            </a:pPr>
            <a:endParaRPr lang="en-US" sz="1300" dirty="0">
              <a:solidFill>
                <a:srgbClr val="1C355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and London Underground accounted for the largest share of reported incidents in the analysis.</a:t>
            </a:r>
          </a:p>
          <a:p>
            <a:pPr marL="0" indent="0">
              <a:buNone/>
            </a:pPr>
            <a:endParaRPr lang="en-US" sz="1300" dirty="0">
              <a:solidFill>
                <a:srgbClr val="1C355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risk matrix highlights differences between transport modes when both incident volume and the available rate measure are considered.</a:t>
            </a:r>
          </a:p>
          <a:p>
            <a:pPr marL="0" indent="0">
              <a:buNone/>
            </a:pPr>
            <a:endParaRPr lang="en-US" sz="1300" dirty="0">
              <a:solidFill>
                <a:srgbClr val="1C3557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1C3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reported incidents were concentrated within a small number of transport modes, while others recorded much lower volumes.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001000" y="2985321"/>
            <a:ext cx="91440" cy="9144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14" name="Shape 11"/>
          <p:cNvSpPr/>
          <p:nvPr/>
        </p:nvSpPr>
        <p:spPr>
          <a:xfrm>
            <a:off x="8001000" y="3586686"/>
            <a:ext cx="91440" cy="9144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18" name="Shape 15"/>
          <p:cNvSpPr/>
          <p:nvPr/>
        </p:nvSpPr>
        <p:spPr>
          <a:xfrm>
            <a:off x="8022401" y="4182115"/>
            <a:ext cx="91440" cy="9144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20" name="Shape 17"/>
          <p:cNvSpPr/>
          <p:nvPr/>
        </p:nvSpPr>
        <p:spPr>
          <a:xfrm>
            <a:off x="8001000" y="4980951"/>
            <a:ext cx="91440" cy="91440"/>
          </a:xfrm>
          <a:prstGeom prst="ellipse">
            <a:avLst/>
          </a:prstGeom>
          <a:solidFill>
            <a:srgbClr val="2E6DA4"/>
          </a:solidFill>
          <a:ln/>
        </p:spPr>
      </p:sp>
      <p:sp>
        <p:nvSpPr>
          <p:cNvPr id="23" name="Text 20"/>
          <p:cNvSpPr/>
          <p:nvPr/>
        </p:nvSpPr>
        <p:spPr>
          <a:xfrm>
            <a:off x="350197" y="5893502"/>
            <a:ext cx="4084644" cy="206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chemeClr val="tx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95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4" name="Text 21"/>
          <p:cNvSpPr/>
          <p:nvPr/>
        </p:nvSpPr>
        <p:spPr>
          <a:xfrm>
            <a:off x="350195" y="6103424"/>
            <a:ext cx="8677073" cy="628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Review London Underground in more detail because it recorded the highest average rate value in the dataset.</a:t>
            </a:r>
          </a:p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Continue monitoring Bus because it recorded the highest total number of reported incidents.</a:t>
            </a:r>
          </a:p>
          <a:p>
            <a:pPr marL="0" indent="0">
              <a:buNone/>
            </a:pPr>
            <a:r>
              <a:rPr lang="en-US" sz="115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Use both reported incident volume and the available rate measure when prioritizing security resources across transport modes.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E6DA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50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RECOMMENDATIONS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Actions for TfL Crime Reduction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02920" y="1572768"/>
            <a:ext cx="5349240" cy="1261872"/>
          </a:xfrm>
          <a:prstGeom prst="roundRect">
            <a:avLst>
              <a:gd name="adj" fmla="val 5072"/>
            </a:avLst>
          </a:prstGeom>
          <a:solidFill>
            <a:schemeClr val="tx1">
              <a:lumMod val="75000"/>
              <a:lumOff val="25000"/>
            </a:schemeClr>
          </a:solidFill>
          <a:ln/>
        </p:spPr>
      </p:sp>
      <p:sp>
        <p:nvSpPr>
          <p:cNvPr id="6" name="Shape 4"/>
          <p:cNvSpPr/>
          <p:nvPr/>
        </p:nvSpPr>
        <p:spPr>
          <a:xfrm>
            <a:off x="704088" y="1792224"/>
            <a:ext cx="347472" cy="347472"/>
          </a:xfrm>
          <a:prstGeom prst="ellipse">
            <a:avLst/>
          </a:prstGeom>
          <a:solidFill>
            <a:schemeClr val="bg2">
              <a:lumMod val="50000"/>
            </a:schemeClr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1792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88720" y="1719072"/>
            <a:ext cx="4480560" cy="596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security presence during higher-volume months identified in the analysis.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1572768"/>
            <a:ext cx="5349240" cy="1261872"/>
          </a:xfrm>
          <a:prstGeom prst="roundRect">
            <a:avLst>
              <a:gd name="adj" fmla="val 5072"/>
            </a:avLst>
          </a:prstGeom>
          <a:solidFill>
            <a:schemeClr val="tx1">
              <a:lumMod val="75000"/>
              <a:lumOff val="25000"/>
            </a:schemeClr>
          </a:solidFill>
          <a:ln/>
        </p:spPr>
      </p:sp>
      <p:sp>
        <p:nvSpPr>
          <p:cNvPr id="10" name="Shape 8"/>
          <p:cNvSpPr/>
          <p:nvPr/>
        </p:nvSpPr>
        <p:spPr>
          <a:xfrm>
            <a:off x="6327648" y="1792224"/>
            <a:ext cx="347472" cy="347472"/>
          </a:xfrm>
          <a:prstGeom prst="ellipse">
            <a:avLst/>
          </a:prstGeom>
          <a:solidFill>
            <a:schemeClr val="bg2">
              <a:lumMod val="50000"/>
            </a:schemeClr>
          </a:solidFill>
          <a:ln/>
        </p:spPr>
      </p:sp>
      <p:sp>
        <p:nvSpPr>
          <p:cNvPr id="11" name="Text 9"/>
          <p:cNvSpPr/>
          <p:nvPr/>
        </p:nvSpPr>
        <p:spPr>
          <a:xfrm>
            <a:off x="6327648" y="1792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12280" y="1719072"/>
            <a:ext cx="4480560" cy="596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locations and incident types contributing to London's Underground higher average rate values.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090672"/>
            <a:ext cx="5349240" cy="1261872"/>
          </a:xfrm>
          <a:prstGeom prst="roundRect">
            <a:avLst>
              <a:gd name="adj" fmla="val 5072"/>
            </a:avLst>
          </a:prstGeom>
          <a:solidFill>
            <a:schemeClr val="tx1">
              <a:lumMod val="75000"/>
              <a:lumOff val="25000"/>
            </a:schemeClr>
          </a:solidFill>
          <a:ln/>
        </p:spPr>
      </p:sp>
      <p:sp>
        <p:nvSpPr>
          <p:cNvPr id="14" name="Shape 12"/>
          <p:cNvSpPr/>
          <p:nvPr/>
        </p:nvSpPr>
        <p:spPr>
          <a:xfrm>
            <a:off x="704088" y="3310128"/>
            <a:ext cx="347472" cy="347472"/>
          </a:xfrm>
          <a:prstGeom prst="ellipse">
            <a:avLst/>
          </a:prstGeom>
          <a:solidFill>
            <a:schemeClr val="bg2">
              <a:lumMod val="50000"/>
            </a:schemeClr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88720" y="3236976"/>
            <a:ext cx="4480560" cy="56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long-term increase in reported incidents to identify the main drivers behind recent growth.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3090672"/>
            <a:ext cx="5349240" cy="1261872"/>
          </a:xfrm>
          <a:prstGeom prst="roundRect">
            <a:avLst>
              <a:gd name="adj" fmla="val 5072"/>
            </a:avLst>
          </a:prstGeom>
          <a:solidFill>
            <a:schemeClr val="tx1">
              <a:lumMod val="75000"/>
              <a:lumOff val="25000"/>
            </a:schemeClr>
          </a:solidFill>
          <a:ln/>
        </p:spPr>
      </p:sp>
      <p:sp>
        <p:nvSpPr>
          <p:cNvPr id="18" name="Shape 16"/>
          <p:cNvSpPr/>
          <p:nvPr/>
        </p:nvSpPr>
        <p:spPr>
          <a:xfrm>
            <a:off x="6327648" y="3310128"/>
            <a:ext cx="347472" cy="347472"/>
          </a:xfrm>
          <a:prstGeom prst="ellipse">
            <a:avLst/>
          </a:prstGeom>
          <a:solidFill>
            <a:schemeClr val="bg2">
              <a:lumMod val="50000"/>
            </a:schemeClr>
          </a:solidFill>
          <a:ln/>
        </p:spPr>
      </p:sp>
      <p:sp>
        <p:nvSpPr>
          <p:cNvPr id="19" name="Text 17"/>
          <p:cNvSpPr/>
          <p:nvPr/>
        </p:nvSpPr>
        <p:spPr>
          <a:xfrm>
            <a:off x="6327648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12280" y="3236976"/>
            <a:ext cx="4480560" cy="5665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historical monthly patterns to support seasonal resource planning.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4608576"/>
            <a:ext cx="5349240" cy="1261872"/>
          </a:xfrm>
          <a:prstGeom prst="roundRect">
            <a:avLst>
              <a:gd name="adj" fmla="val 5072"/>
            </a:avLst>
          </a:prstGeom>
          <a:solidFill>
            <a:schemeClr val="tx1">
              <a:lumMod val="75000"/>
              <a:lumOff val="25000"/>
            </a:schemeClr>
          </a:solidFill>
          <a:ln/>
        </p:spPr>
      </p:sp>
      <p:sp>
        <p:nvSpPr>
          <p:cNvPr id="22" name="Shape 20"/>
          <p:cNvSpPr/>
          <p:nvPr/>
        </p:nvSpPr>
        <p:spPr>
          <a:xfrm>
            <a:off x="704088" y="4828032"/>
            <a:ext cx="347472" cy="347472"/>
          </a:xfrm>
          <a:prstGeom prst="ellipse">
            <a:avLst/>
          </a:prstGeom>
          <a:solidFill>
            <a:schemeClr val="bg2">
              <a:lumMod val="50000"/>
            </a:schemeClr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" y="4828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88720" y="4754880"/>
            <a:ext cx="4480560" cy="6342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transport modes using both reported incident volume and the available rate measure.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26480" y="4608576"/>
            <a:ext cx="5349240" cy="1261872"/>
          </a:xfrm>
          <a:prstGeom prst="roundRect">
            <a:avLst>
              <a:gd name="adj" fmla="val 5072"/>
            </a:avLst>
          </a:prstGeom>
          <a:solidFill>
            <a:schemeClr val="tx1">
              <a:lumMod val="75000"/>
              <a:lumOff val="25000"/>
            </a:schemeClr>
          </a:solidFill>
          <a:ln/>
        </p:spPr>
      </p:sp>
      <p:sp>
        <p:nvSpPr>
          <p:cNvPr id="26" name="Shape 24"/>
          <p:cNvSpPr/>
          <p:nvPr/>
        </p:nvSpPr>
        <p:spPr>
          <a:xfrm>
            <a:off x="6327648" y="4828032"/>
            <a:ext cx="347472" cy="347472"/>
          </a:xfrm>
          <a:prstGeom prst="ellipse">
            <a:avLst/>
          </a:prstGeom>
          <a:solidFill>
            <a:schemeClr val="bg2">
              <a:lumMod val="50000"/>
            </a:schemeClr>
          </a:solidFill>
          <a:ln/>
        </p:spPr>
      </p:sp>
      <p:sp>
        <p:nvSpPr>
          <p:cNvPr id="27" name="Text 25"/>
          <p:cNvSpPr/>
          <p:nvPr/>
        </p:nvSpPr>
        <p:spPr>
          <a:xfrm>
            <a:off x="6327648" y="48280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12280" y="475488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the Tableau dashboard as new TfL crime data becomes available to support ongoing monitoring.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50" dirty="0">
                <a:solidFill>
                  <a:srgbClr val="2E6D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· SKILLS DEMONSTRATED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>
                    <a:lumMod val="9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Proves</a:t>
            </a:r>
            <a:endParaRPr lang="en-US" sz="3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5349240" cy="1298448"/>
          </a:xfrm>
          <a:prstGeom prst="roundRect">
            <a:avLst>
              <a:gd name="adj" fmla="val 4930"/>
            </a:avLst>
          </a:prstGeom>
          <a:solidFill>
            <a:schemeClr val="tx1">
              <a:lumMod val="75000"/>
              <a:lumOff val="25000"/>
            </a:schemeClr>
          </a:solidFill>
          <a:ln/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25880"/>
            <a:ext cx="109728" cy="1298448"/>
          </a:xfrm>
          <a:prstGeom prst="rect">
            <a:avLst/>
          </a:prstGeom>
          <a:solidFill>
            <a:schemeClr val="bg2">
              <a:lumMod val="75000"/>
            </a:schemeClr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45389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 Design</a:t>
            </a:r>
            <a:endParaRPr lang="en-US" sz="13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58952" y="17830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three connected dashboards: Executive Overview, Trend Analysis, and Advanced Analytics with a risk matrix.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126480" y="1325880"/>
            <a:ext cx="5349240" cy="1298448"/>
          </a:xfrm>
          <a:prstGeom prst="roundRect">
            <a:avLst>
              <a:gd name="adj" fmla="val 4930"/>
            </a:avLst>
          </a:prstGeom>
          <a:solidFill>
            <a:schemeClr val="tx1">
              <a:lumMod val="75000"/>
              <a:lumOff val="25000"/>
            </a:schemeClr>
          </a:solidFill>
          <a:ln/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26480" y="1325880"/>
            <a:ext cx="109728" cy="1298448"/>
          </a:xfrm>
          <a:prstGeom prst="rect">
            <a:avLst/>
          </a:prstGeom>
          <a:solidFill>
            <a:schemeClr val="bg2">
              <a:lumMod val="75000"/>
            </a:schemeClr>
          </a:solidFill>
          <a:ln/>
        </p:spPr>
      </p:sp>
      <p:sp>
        <p:nvSpPr>
          <p:cNvPr id="10" name="Text 8"/>
          <p:cNvSpPr/>
          <p:nvPr/>
        </p:nvSpPr>
        <p:spPr>
          <a:xfrm>
            <a:off x="6382512" y="145389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3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6382512" y="17830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appropriate chart types - bar, line, heat map, scatter plot - for each analytical question.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02920" y="2880360"/>
            <a:ext cx="5349240" cy="1298448"/>
          </a:xfrm>
          <a:prstGeom prst="roundRect">
            <a:avLst>
              <a:gd name="adj" fmla="val 4930"/>
            </a:avLst>
          </a:prstGeom>
          <a:solidFill>
            <a:schemeClr val="tx1">
              <a:lumMod val="75000"/>
              <a:lumOff val="25000"/>
            </a:schemeClr>
          </a:solidFill>
          <a:ln/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880360"/>
            <a:ext cx="109728" cy="1298448"/>
          </a:xfrm>
          <a:prstGeom prst="rect">
            <a:avLst/>
          </a:prstGeom>
          <a:solidFill>
            <a:schemeClr val="bg2">
              <a:lumMod val="75000"/>
            </a:schemeClr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" y="30083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</a:t>
            </a:r>
            <a:endParaRPr lang="en-US" sz="13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758952" y="33375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15 fiscal years of data to identify growth patterns, seasonal cycles, and event impacts (COVID dip).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26480" y="2880360"/>
            <a:ext cx="5349240" cy="1298448"/>
          </a:xfrm>
          <a:prstGeom prst="roundRect">
            <a:avLst>
              <a:gd name="adj" fmla="val 4930"/>
            </a:avLst>
          </a:prstGeom>
          <a:solidFill>
            <a:schemeClr val="tx1">
              <a:lumMod val="75000"/>
              <a:lumOff val="25000"/>
            </a:schemeClr>
          </a:solidFill>
          <a:ln/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880360"/>
            <a:ext cx="109728" cy="1298448"/>
          </a:xfrm>
          <a:prstGeom prst="rect">
            <a:avLst/>
          </a:prstGeom>
          <a:solidFill>
            <a:schemeClr val="bg2">
              <a:lumMod val="75000"/>
            </a:schemeClr>
          </a:solidFill>
          <a:ln/>
        </p:spPr>
      </p:sp>
      <p:sp>
        <p:nvSpPr>
          <p:cNvPr id="18" name="Text 16"/>
          <p:cNvSpPr/>
          <p:nvPr/>
        </p:nvSpPr>
        <p:spPr>
          <a:xfrm>
            <a:off x="6382512" y="30083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Matrix Thinking</a:t>
            </a:r>
            <a:endParaRPr lang="en-US" sz="13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82512" y="333756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Plotted transport modes on a volume-vs-rate scatter to separate high-volume from high-rate risks.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2920" y="4434840"/>
            <a:ext cx="5349240" cy="1298448"/>
          </a:xfrm>
          <a:prstGeom prst="roundRect">
            <a:avLst>
              <a:gd name="adj" fmla="val 4930"/>
            </a:avLst>
          </a:prstGeom>
          <a:solidFill>
            <a:schemeClr val="tx1">
              <a:lumMod val="75000"/>
              <a:lumOff val="25000"/>
            </a:schemeClr>
          </a:solidFill>
          <a:ln/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02920" y="4434840"/>
            <a:ext cx="109728" cy="1298448"/>
          </a:xfrm>
          <a:prstGeom prst="rect">
            <a:avLst/>
          </a:prstGeom>
          <a:solidFill>
            <a:schemeClr val="bg2">
              <a:lumMod val="75000"/>
            </a:schemeClr>
          </a:solidFill>
          <a:ln/>
        </p:spPr>
      </p:sp>
      <p:sp>
        <p:nvSpPr>
          <p:cNvPr id="22" name="Text 20"/>
          <p:cNvSpPr/>
          <p:nvPr/>
        </p:nvSpPr>
        <p:spPr>
          <a:xfrm>
            <a:off x="758952" y="45628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Storytelling</a:t>
            </a:r>
            <a:endParaRPr lang="en-US" sz="13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758952" y="48920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three dashboards around a single analytical thread: where is crime, when is it worst, and what should be done.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126480" y="4434840"/>
            <a:ext cx="5349240" cy="1298448"/>
          </a:xfrm>
          <a:prstGeom prst="roundRect">
            <a:avLst>
              <a:gd name="adj" fmla="val 4930"/>
            </a:avLst>
          </a:prstGeom>
          <a:solidFill>
            <a:schemeClr val="tx1">
              <a:lumMod val="75000"/>
              <a:lumOff val="25000"/>
            </a:schemeClr>
          </a:solidFill>
          <a:ln/>
          <a:effectLst>
            <a:outerShdw blurRad="50800" dist="127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4434840"/>
            <a:ext cx="109728" cy="1298448"/>
          </a:xfrm>
          <a:prstGeom prst="rect">
            <a:avLst/>
          </a:prstGeom>
          <a:solidFill>
            <a:schemeClr val="bg2">
              <a:lumMod val="75000"/>
            </a:schemeClr>
          </a:solidFill>
          <a:ln/>
        </p:spPr>
      </p:sp>
      <p:sp>
        <p:nvSpPr>
          <p:cNvPr id="26" name="Text 24"/>
          <p:cNvSpPr/>
          <p:nvPr/>
        </p:nvSpPr>
        <p:spPr>
          <a:xfrm>
            <a:off x="6382512" y="456285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&amp; Data Preparation</a:t>
            </a:r>
            <a:endParaRPr lang="en-US" sz="1300" dirty="0">
              <a:solidFill>
                <a:schemeClr val="tx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6382512" y="489204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1">
                    <a:lumMod val="9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and prepared TfL source data before Tableau analysis.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</TotalTime>
  <Words>743</Words>
  <Application>Microsoft Office PowerPoint</Application>
  <PresentationFormat>Widescreen</PresentationFormat>
  <Paragraphs>104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London Transport Crime Analysis</dc:title>
  <dc:subject>PptxGenJS Presentation</dc:subject>
  <dc:creator>Victoria Johnson</dc:creator>
  <cp:lastModifiedBy>Vicky Johnson</cp:lastModifiedBy>
  <cp:revision>3</cp:revision>
  <dcterms:created xsi:type="dcterms:W3CDTF">2026-07-01T10:32:03Z</dcterms:created>
  <dcterms:modified xsi:type="dcterms:W3CDTF">2026-07-17T08:23:19Z</dcterms:modified>
</cp:coreProperties>
</file>