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5.xml" ContentType="application/vnd.openxmlformats-officedocument.presentationml.notesSlide+xml"/>
  <Override PartName="/ppt/charts/chart5.xml" ContentType="application/vnd.openxmlformats-officedocument.drawingml.chart+xml"/>
  <Override PartName="/ppt/notesSlides/notesSlide6.xml" ContentType="application/vnd.openxmlformats-officedocument.presentationml.notesSlide+xml"/>
  <Override PartName="/ppt/charts/chart6.xml" ContentType="application/vnd.openxmlformats-officedocument.drawingml.chart+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82"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Customers</c:v>
                </c:pt>
              </c:strCache>
            </c:strRef>
          </c:tx>
          <c:spPr>
            <a:solidFill>
              <a:srgbClr val="2F5496"/>
            </a:solidFill>
            <a:effectLst/>
          </c:spPr>
          <c:invertIfNegative val="0"/>
          <c:dPt>
            <c:idx val="0"/>
            <c:invertIfNegative val="0"/>
            <c:bubble3D val="0"/>
            <c:extLst>
              <c:ext xmlns:c16="http://schemas.microsoft.com/office/drawing/2014/chart" uri="{C3380CC4-5D6E-409C-BE32-E72D297353CC}">
                <c16:uniqueId val="{00000001-7D9F-489B-BDEC-27AEE3A1F85E}"/>
              </c:ext>
            </c:extLst>
          </c:dPt>
          <c:dPt>
            <c:idx val="1"/>
            <c:invertIfNegative val="0"/>
            <c:bubble3D val="0"/>
            <c:spPr>
              <a:solidFill>
                <a:srgbClr val="6B82B8"/>
              </a:solidFill>
              <a:effectLst/>
            </c:spPr>
            <c:extLst>
              <c:ext xmlns:c16="http://schemas.microsoft.com/office/drawing/2014/chart" uri="{C3380CC4-5D6E-409C-BE32-E72D297353CC}">
                <c16:uniqueId val="{00000003-7D9F-489B-BDEC-27AEE3A1F85E}"/>
              </c:ext>
            </c:extLst>
          </c:dPt>
          <c:dPt>
            <c:idx val="2"/>
            <c:invertIfNegative val="0"/>
            <c:bubble3D val="0"/>
            <c:spPr>
              <a:solidFill>
                <a:srgbClr val="9BADD1"/>
              </a:solidFill>
              <a:effectLst/>
            </c:spPr>
            <c:extLst>
              <c:ext xmlns:c16="http://schemas.microsoft.com/office/drawing/2014/chart" uri="{C3380CC4-5D6E-409C-BE32-E72D297353CC}">
                <c16:uniqueId val="{00000005-7D9F-489B-BDEC-27AEE3A1F85E}"/>
              </c:ext>
            </c:extLst>
          </c:dPt>
          <c:dPt>
            <c:idx val="3"/>
            <c:invertIfNegative val="0"/>
            <c:bubble3D val="0"/>
            <c:spPr>
              <a:solidFill>
                <a:srgbClr val="CADCFC"/>
              </a:solidFill>
              <a:effectLst/>
            </c:spPr>
            <c:extLst>
              <c:ext xmlns:c16="http://schemas.microsoft.com/office/drawing/2014/chart" uri="{C3380CC4-5D6E-409C-BE32-E72D297353CC}">
                <c16:uniqueId val="{00000007-7D9F-489B-BDEC-27AEE3A1F85E}"/>
              </c:ext>
            </c:extLst>
          </c:dPt>
          <c:dPt>
            <c:idx val="4"/>
            <c:invertIfNegative val="0"/>
            <c:bubble3D val="0"/>
            <c:spPr>
              <a:solidFill>
                <a:srgbClr val="E4ECF8"/>
              </a:solidFill>
              <a:effectLst/>
            </c:spPr>
            <c:extLst>
              <c:ext xmlns:c16="http://schemas.microsoft.com/office/drawing/2014/chart" uri="{C3380CC4-5D6E-409C-BE32-E72D297353CC}">
                <c16:uniqueId val="{00000009-7D9F-489B-BDEC-27AEE3A1F85E}"/>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order</c:v>
                </c:pt>
                <c:pt idx="1">
                  <c:v>2 orders</c:v>
                </c:pt>
                <c:pt idx="2">
                  <c:v>3 orders</c:v>
                </c:pt>
                <c:pt idx="3">
                  <c:v>4 orders</c:v>
                </c:pt>
                <c:pt idx="4">
                  <c:v>5+ orders</c:v>
                </c:pt>
              </c:strCache>
            </c:strRef>
          </c:cat>
          <c:val>
            <c:numRef>
              <c:f>Sheet1!$B$2:$B$6</c:f>
              <c:numCache>
                <c:formatCode>General</c:formatCode>
                <c:ptCount val="5"/>
                <c:pt idx="0">
                  <c:v>90557</c:v>
                </c:pt>
                <c:pt idx="1">
                  <c:v>2573</c:v>
                </c:pt>
                <c:pt idx="2">
                  <c:v>181</c:v>
                </c:pt>
                <c:pt idx="3">
                  <c:v>28</c:v>
                </c:pt>
                <c:pt idx="4">
                  <c:v>18</c:v>
                </c:pt>
              </c:numCache>
            </c:numRef>
          </c:val>
          <c:extLst>
            <c:ext xmlns:c16="http://schemas.microsoft.com/office/drawing/2014/chart" uri="{C3380CC4-5D6E-409C-BE32-E72D297353CC}">
              <c16:uniqueId val="{0000000A-7D9F-489B-BDEC-27AEE3A1F85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2F5496"/>
              </a:solidFill>
              <a:effectLst/>
            </c:spPr>
            <c:extLst>
              <c:ext xmlns:c16="http://schemas.microsoft.com/office/drawing/2014/chart" uri="{C3380CC4-5D6E-409C-BE32-E72D297353CC}">
                <c16:uniqueId val="{00000001-24CB-483C-8E73-DC96DD0DC52B}"/>
              </c:ext>
            </c:extLst>
          </c:dPt>
          <c:dPt>
            <c:idx val="1"/>
            <c:bubble3D val="0"/>
            <c:spPr>
              <a:solidFill>
                <a:srgbClr val="CADCFC"/>
              </a:solidFill>
              <a:effectLst/>
            </c:spPr>
            <c:extLst>
              <c:ext xmlns:c16="http://schemas.microsoft.com/office/drawing/2014/chart" uri="{C3380CC4-5D6E-409C-BE32-E72D297353CC}">
                <c16:uniqueId val="{00000003-24CB-483C-8E73-DC96DD0DC52B}"/>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4CB-483C-8E73-DC96DD0DC52B}"/>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4CB-483C-8E73-DC96DD0DC52B}"/>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One-Time (97% of customers)</c:v>
                </c:pt>
                <c:pt idx="1">
                  <c:v>Repeat (3% of customers)</c:v>
                </c:pt>
              </c:strCache>
            </c:strRef>
          </c:cat>
          <c:val>
            <c:numRef>
              <c:f>Sheet1!$B$2:$B$3</c:f>
              <c:numCache>
                <c:formatCode>General</c:formatCode>
                <c:ptCount val="2"/>
                <c:pt idx="0">
                  <c:v>14556039</c:v>
                </c:pt>
                <c:pt idx="1">
                  <c:v>864187</c:v>
                </c:pt>
              </c:numCache>
            </c:numRef>
          </c:val>
          <c:extLst>
            <c:ext xmlns:c16="http://schemas.microsoft.com/office/drawing/2014/chart" uri="{C3380CC4-5D6E-409C-BE32-E72D297353CC}">
              <c16:uniqueId val="{00000004-24CB-483C-8E73-DC96DD0DC52B}"/>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000"/>
          </a:pPr>
          <a:endParaRPr lang="en-US"/>
        </a:p>
      </c:txPr>
    </c:legend>
    <c:plotVisOnly val="1"/>
    <c:dispBlanksAs val="span"/>
    <c:showDLblsOverMax val="1"/>
  </c:chart>
  <c:spPr>
    <a:solidFill>
      <a:srgbClr val="F4F6FB"/>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One-Time</c:v>
                </c:pt>
              </c:strCache>
            </c:strRef>
          </c:tx>
          <c:spPr>
            <a:solidFill>
              <a:srgbClr val="2F5496"/>
            </a:solidFill>
            <a:effectLst/>
          </c:spPr>
          <c:invertIfNegative val="0"/>
          <c:cat>
            <c:strRef>
              <c:f>Sheet1!$A$2:$A$6</c:f>
              <c:strCache>
                <c:ptCount val="5"/>
                <c:pt idx="0">
                  <c:v>beleza_saude</c:v>
                </c:pt>
                <c:pt idx="1">
                  <c:v>relogios_presentes</c:v>
                </c:pt>
                <c:pt idx="2">
                  <c:v>cama_mesa_banho</c:v>
                </c:pt>
                <c:pt idx="3">
                  <c:v>esporte_lazer</c:v>
                </c:pt>
                <c:pt idx="4">
                  <c:v>informatica_aces</c:v>
                </c:pt>
              </c:strCache>
            </c:strRef>
          </c:cat>
          <c:val>
            <c:numRef>
              <c:f>Sheet1!$B$2:$B$6</c:f>
              <c:numCache>
                <c:formatCode>General</c:formatCode>
                <c:ptCount val="5"/>
                <c:pt idx="0">
                  <c:v>1348622</c:v>
                </c:pt>
                <c:pt idx="1">
                  <c:v>1207323</c:v>
                </c:pt>
                <c:pt idx="2">
                  <c:v>1110996</c:v>
                </c:pt>
                <c:pt idx="3">
                  <c:v>1035492</c:v>
                </c:pt>
                <c:pt idx="4">
                  <c:v>962792</c:v>
                </c:pt>
              </c:numCache>
            </c:numRef>
          </c:val>
          <c:extLst>
            <c:ext xmlns:c16="http://schemas.microsoft.com/office/drawing/2014/chart" uri="{C3380CC4-5D6E-409C-BE32-E72D297353CC}">
              <c16:uniqueId val="{00000000-9DA5-4713-A953-3258FA72F19B}"/>
            </c:ext>
          </c:extLst>
        </c:ser>
        <c:ser>
          <c:idx val="1"/>
          <c:order val="1"/>
          <c:tx>
            <c:strRef>
              <c:f>Sheet1!$C$1</c:f>
              <c:strCache>
                <c:ptCount val="1"/>
                <c:pt idx="0">
                  <c:v>Repeat</c:v>
                </c:pt>
              </c:strCache>
            </c:strRef>
          </c:tx>
          <c:spPr>
            <a:solidFill>
              <a:srgbClr val="CADCFC"/>
            </a:solidFill>
            <a:effectLst/>
          </c:spPr>
          <c:invertIfNegative val="0"/>
          <c:cat>
            <c:strRef>
              <c:f>Sheet1!$A$2:$A$6</c:f>
              <c:strCache>
                <c:ptCount val="5"/>
                <c:pt idx="0">
                  <c:v>beleza_saude</c:v>
                </c:pt>
                <c:pt idx="1">
                  <c:v>relogios_presentes</c:v>
                </c:pt>
                <c:pt idx="2">
                  <c:v>cama_mesa_banho</c:v>
                </c:pt>
                <c:pt idx="3">
                  <c:v>esporte_lazer</c:v>
                </c:pt>
                <c:pt idx="4">
                  <c:v>informatica_aces</c:v>
                </c:pt>
              </c:strCache>
            </c:strRef>
          </c:cat>
          <c:val>
            <c:numRef>
              <c:f>Sheet1!$C$2:$C$6</c:f>
              <c:numCache>
                <c:formatCode>General</c:formatCode>
                <c:ptCount val="5"/>
                <c:pt idx="0">
                  <c:v>63467</c:v>
                </c:pt>
                <c:pt idx="1">
                  <c:v>0</c:v>
                </c:pt>
                <c:pt idx="2">
                  <c:v>114212</c:v>
                </c:pt>
                <c:pt idx="3">
                  <c:v>82764</c:v>
                </c:pt>
                <c:pt idx="4">
                  <c:v>69931</c:v>
                </c:pt>
              </c:numCache>
            </c:numRef>
          </c:val>
          <c:extLst>
            <c:ext xmlns:c16="http://schemas.microsoft.com/office/drawing/2014/chart" uri="{C3380CC4-5D6E-409C-BE32-E72D297353CC}">
              <c16:uniqueId val="{00000001-9DA5-4713-A953-3258FA72F19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4F6FB"/>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Review Score</c:v>
                </c:pt>
              </c:strCache>
            </c:strRef>
          </c:tx>
          <c:spPr>
            <a:solidFill>
              <a:srgbClr val="2F5496"/>
            </a:solidFill>
            <a:effectLst/>
          </c:spPr>
          <c:invertIfNegative val="0"/>
          <c:dPt>
            <c:idx val="0"/>
            <c:invertIfNegative val="0"/>
            <c:bubble3D val="0"/>
            <c:extLst>
              <c:ext xmlns:c16="http://schemas.microsoft.com/office/drawing/2014/chart" uri="{C3380CC4-5D6E-409C-BE32-E72D297353CC}">
                <c16:uniqueId val="{00000001-999B-4860-AE6B-5ABCE33117D6}"/>
              </c:ext>
            </c:extLst>
          </c:dPt>
          <c:dPt>
            <c:idx val="1"/>
            <c:invertIfNegative val="0"/>
            <c:bubble3D val="0"/>
            <c:spPr>
              <a:solidFill>
                <a:srgbClr val="CADCFC"/>
              </a:solidFill>
              <a:effectLst/>
            </c:spPr>
            <c:extLst>
              <c:ext xmlns:c16="http://schemas.microsoft.com/office/drawing/2014/chart" uri="{C3380CC4-5D6E-409C-BE32-E72D297353CC}">
                <c16:uniqueId val="{00000003-999B-4860-AE6B-5ABCE33117D6}"/>
              </c:ext>
            </c:extLst>
          </c:dPt>
          <c:dLbls>
            <c:numFmt formatCode="#,##0" sourceLinked="0"/>
            <c:spPr>
              <a:noFill/>
              <a:ln>
                <a:noFill/>
              </a:ln>
              <a:effectLst/>
            </c:spPr>
            <c:txPr>
              <a:bodyPr/>
              <a:lstStyle/>
              <a:p>
                <a:pPr>
                  <a:defRPr sz="1200" b="0" i="0" u="none" strike="noStrike">
                    <a:solidFill>
                      <a:srgbClr val="1F386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One-Time Buyers</c:v>
                </c:pt>
                <c:pt idx="1">
                  <c:v>Repeat Customers</c:v>
                </c:pt>
              </c:strCache>
            </c:strRef>
          </c:cat>
          <c:val>
            <c:numRef>
              <c:f>Sheet1!$B$2:$B$3</c:f>
              <c:numCache>
                <c:formatCode>General</c:formatCode>
                <c:ptCount val="2"/>
                <c:pt idx="0">
                  <c:v>4.1500000000000004</c:v>
                </c:pt>
                <c:pt idx="1">
                  <c:v>4.21</c:v>
                </c:pt>
              </c:numCache>
            </c:numRef>
          </c:val>
          <c:extLst>
            <c:ext xmlns:c16="http://schemas.microsoft.com/office/drawing/2014/chart" uri="{C3380CC4-5D6E-409C-BE32-E72D297353CC}">
              <c16:uniqueId val="{00000004-999B-4860-AE6B-5ABCE33117D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max val="5"/>
          <c:min val="3.8"/>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6FB"/>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Days</c:v>
                </c:pt>
              </c:strCache>
            </c:strRef>
          </c:tx>
          <c:spPr>
            <a:solidFill>
              <a:srgbClr val="CADCFC"/>
            </a:solidFill>
            <a:effectLst/>
          </c:spPr>
          <c:invertIfNegative val="0"/>
          <c:dPt>
            <c:idx val="0"/>
            <c:invertIfNegative val="0"/>
            <c:bubble3D val="0"/>
            <c:extLst>
              <c:ext xmlns:c16="http://schemas.microsoft.com/office/drawing/2014/chart" uri="{C3380CC4-5D6E-409C-BE32-E72D297353CC}">
                <c16:uniqueId val="{00000001-CF24-4253-A489-1B4DE671CAC8}"/>
              </c:ext>
            </c:extLst>
          </c:dPt>
          <c:dPt>
            <c:idx val="1"/>
            <c:invertIfNegative val="0"/>
            <c:bubble3D val="0"/>
            <c:spPr>
              <a:solidFill>
                <a:srgbClr val="8899CC"/>
              </a:solidFill>
              <a:effectLst/>
            </c:spPr>
            <c:extLst>
              <c:ext xmlns:c16="http://schemas.microsoft.com/office/drawing/2014/chart" uri="{C3380CC4-5D6E-409C-BE32-E72D297353CC}">
                <c16:uniqueId val="{00000003-CF24-4253-A489-1B4DE671CAC8}"/>
              </c:ext>
            </c:extLst>
          </c:dPt>
          <c:dPt>
            <c:idx val="2"/>
            <c:invertIfNegative val="0"/>
            <c:bubble3D val="0"/>
            <c:spPr>
              <a:solidFill>
                <a:srgbClr val="6677AA"/>
              </a:solidFill>
              <a:effectLst/>
            </c:spPr>
            <c:extLst>
              <c:ext xmlns:c16="http://schemas.microsoft.com/office/drawing/2014/chart" uri="{C3380CC4-5D6E-409C-BE32-E72D297353CC}">
                <c16:uniqueId val="{00000005-CF24-4253-A489-1B4DE671CAC8}"/>
              </c:ext>
            </c:extLst>
          </c:dPt>
          <c:dPt>
            <c:idx val="3"/>
            <c:invertIfNegative val="0"/>
            <c:bubble3D val="0"/>
            <c:spPr>
              <a:solidFill>
                <a:srgbClr val="445588"/>
              </a:solidFill>
              <a:effectLst/>
            </c:spPr>
            <c:extLst>
              <c:ext xmlns:c16="http://schemas.microsoft.com/office/drawing/2014/chart" uri="{C3380CC4-5D6E-409C-BE32-E72D297353CC}">
                <c16:uniqueId val="{00000007-CF24-4253-A489-1B4DE671CAC8}"/>
              </c:ext>
            </c:extLst>
          </c:dPt>
          <c:dLbls>
            <c:numFmt formatCode="#,##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2nd purchase</c:v>
                </c:pt>
                <c:pt idx="1">
                  <c:v>3rd purchase</c:v>
                </c:pt>
                <c:pt idx="2">
                  <c:v>4th purchase</c:v>
                </c:pt>
                <c:pt idx="3">
                  <c:v>5th purchase</c:v>
                </c:pt>
              </c:strCache>
            </c:strRef>
          </c:cat>
          <c:val>
            <c:numRef>
              <c:f>Sheet1!$B$2:$B$5</c:f>
              <c:numCache>
                <c:formatCode>General</c:formatCode>
                <c:ptCount val="4"/>
                <c:pt idx="0">
                  <c:v>81.2</c:v>
                </c:pt>
                <c:pt idx="1">
                  <c:v>62.8</c:v>
                </c:pt>
                <c:pt idx="2">
                  <c:v>60.6</c:v>
                </c:pt>
                <c:pt idx="3">
                  <c:v>61.2</c:v>
                </c:pt>
              </c:numCache>
            </c:numRef>
          </c:val>
          <c:extLst>
            <c:ext xmlns:c16="http://schemas.microsoft.com/office/drawing/2014/chart" uri="{C3380CC4-5D6E-409C-BE32-E72D297353CC}">
              <c16:uniqueId val="{00000008-CF24-4253-A489-1B4DE671CAC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ADCF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3447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CADCF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F3864"/>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Repeat Rate %</c:v>
                </c:pt>
              </c:strCache>
            </c:strRef>
          </c:tx>
          <c:spPr>
            <a:solidFill>
              <a:srgbClr val="2F5496"/>
            </a:solidFill>
            <a:effectLst/>
          </c:spPr>
          <c:invertIfNegative val="0"/>
          <c:dPt>
            <c:idx val="0"/>
            <c:invertIfNegative val="0"/>
            <c:bubble3D val="0"/>
            <c:spPr>
              <a:solidFill>
                <a:srgbClr val="2F5496"/>
              </a:solidFill>
              <a:effectLst/>
            </c:spPr>
            <c:extLst>
              <c:ext xmlns:c16="http://schemas.microsoft.com/office/drawing/2014/chart" uri="{C3380CC4-5D6E-409C-BE32-E72D297353CC}">
                <c16:uniqueId val="{00000001-C248-4AEA-A775-4ED5B8974806}"/>
              </c:ext>
            </c:extLst>
          </c:dPt>
          <c:dPt>
            <c:idx val="1"/>
            <c:invertIfNegative val="0"/>
            <c:bubble3D val="0"/>
            <c:spPr>
              <a:solidFill>
                <a:srgbClr val="2F5496"/>
              </a:solidFill>
              <a:effectLst/>
            </c:spPr>
            <c:extLst>
              <c:ext xmlns:c16="http://schemas.microsoft.com/office/drawing/2014/chart" uri="{C3380CC4-5D6E-409C-BE32-E72D297353CC}">
                <c16:uniqueId val="{00000003-C248-4AEA-A775-4ED5B8974806}"/>
              </c:ext>
            </c:extLst>
          </c:dPt>
          <c:dPt>
            <c:idx val="2"/>
            <c:invertIfNegative val="0"/>
            <c:bubble3D val="0"/>
            <c:spPr>
              <a:solidFill>
                <a:srgbClr val="2F5496"/>
              </a:solidFill>
              <a:effectLst/>
            </c:spPr>
            <c:extLst>
              <c:ext xmlns:c16="http://schemas.microsoft.com/office/drawing/2014/chart" uri="{C3380CC4-5D6E-409C-BE32-E72D297353CC}">
                <c16:uniqueId val="{00000005-C248-4AEA-A775-4ED5B8974806}"/>
              </c:ext>
            </c:extLst>
          </c:dPt>
          <c:dPt>
            <c:idx val="3"/>
            <c:invertIfNegative val="0"/>
            <c:bubble3D val="0"/>
            <c:spPr>
              <a:solidFill>
                <a:srgbClr val="2F5496"/>
              </a:solidFill>
              <a:effectLst/>
            </c:spPr>
            <c:extLst>
              <c:ext xmlns:c16="http://schemas.microsoft.com/office/drawing/2014/chart" uri="{C3380CC4-5D6E-409C-BE32-E72D297353CC}">
                <c16:uniqueId val="{00000007-C248-4AEA-A775-4ED5B8974806}"/>
              </c:ext>
            </c:extLst>
          </c:dPt>
          <c:dPt>
            <c:idx val="4"/>
            <c:invertIfNegative val="0"/>
            <c:bubble3D val="0"/>
            <c:spPr>
              <a:solidFill>
                <a:srgbClr val="2F5496"/>
              </a:solidFill>
              <a:effectLst/>
            </c:spPr>
            <c:extLst>
              <c:ext xmlns:c16="http://schemas.microsoft.com/office/drawing/2014/chart" uri="{C3380CC4-5D6E-409C-BE32-E72D297353CC}">
                <c16:uniqueId val="{00000009-C248-4AEA-A775-4ED5B8974806}"/>
              </c:ext>
            </c:extLst>
          </c:dPt>
          <c:dPt>
            <c:idx val="5"/>
            <c:invertIfNegative val="0"/>
            <c:bubble3D val="0"/>
            <c:spPr>
              <a:solidFill>
                <a:srgbClr val="2F5496"/>
              </a:solidFill>
              <a:effectLst/>
            </c:spPr>
            <c:extLst>
              <c:ext xmlns:c16="http://schemas.microsoft.com/office/drawing/2014/chart" uri="{C3380CC4-5D6E-409C-BE32-E72D297353CC}">
                <c16:uniqueId val="{0000000B-C248-4AEA-A775-4ED5B8974806}"/>
              </c:ext>
            </c:extLst>
          </c:dPt>
          <c:dPt>
            <c:idx val="6"/>
            <c:invertIfNegative val="0"/>
            <c:bubble3D val="0"/>
            <c:spPr>
              <a:solidFill>
                <a:srgbClr val="2F5496"/>
              </a:solidFill>
              <a:effectLst/>
            </c:spPr>
            <c:extLst>
              <c:ext xmlns:c16="http://schemas.microsoft.com/office/drawing/2014/chart" uri="{C3380CC4-5D6E-409C-BE32-E72D297353CC}">
                <c16:uniqueId val="{0000000D-C248-4AEA-A775-4ED5B8974806}"/>
              </c:ext>
            </c:extLst>
          </c:dPt>
          <c:dPt>
            <c:idx val="7"/>
            <c:invertIfNegative val="0"/>
            <c:bubble3D val="0"/>
            <c:spPr>
              <a:solidFill>
                <a:srgbClr val="C00000"/>
              </a:solidFill>
              <a:effectLst/>
            </c:spPr>
            <c:extLst>
              <c:ext xmlns:c16="http://schemas.microsoft.com/office/drawing/2014/chart" uri="{C3380CC4-5D6E-409C-BE32-E72D297353CC}">
                <c16:uniqueId val="{0000000F-C248-4AEA-A775-4ED5B8974806}"/>
              </c:ext>
            </c:extLst>
          </c:dPt>
          <c:dLbls>
            <c:numFmt formatCode="#,##0" sourceLinked="0"/>
            <c:spPr>
              <a:noFill/>
              <a:ln>
                <a:noFill/>
              </a:ln>
              <a:effectLst/>
            </c:spPr>
            <c:txPr>
              <a:bodyPr/>
              <a:lstStyle/>
              <a:p>
                <a:pPr>
                  <a:defRPr sz="1000" b="0" i="0" u="none" strike="noStrike">
                    <a:solidFill>
                      <a:srgbClr val="1F386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Sao Jose dos Campos</c:v>
                </c:pt>
                <c:pt idx="1">
                  <c:v>Sao Paulo (seller 1)</c:v>
                </c:pt>
                <c:pt idx="2">
                  <c:v>Porto Ferreira</c:v>
                </c:pt>
                <c:pt idx="3">
                  <c:v>Timbo</c:v>
                </c:pt>
                <c:pt idx="4">
                  <c:v>Ibitinga</c:v>
                </c:pt>
                <c:pt idx="5">
                  <c:v>Sete Lagoas</c:v>
                </c:pt>
                <c:pt idx="6">
                  <c:v>Sao Paulo (seller 2)</c:v>
                </c:pt>
                <c:pt idx="7">
                  <c:v>Platform Average</c:v>
                </c:pt>
              </c:strCache>
            </c:strRef>
          </c:cat>
          <c:val>
            <c:numRef>
              <c:f>Sheet1!$B$2:$B$9</c:f>
              <c:numCache>
                <c:formatCode>General</c:formatCode>
                <c:ptCount val="8"/>
                <c:pt idx="0">
                  <c:v>22.73</c:v>
                </c:pt>
                <c:pt idx="1">
                  <c:v>22.41</c:v>
                </c:pt>
                <c:pt idx="2">
                  <c:v>17.649999999999999</c:v>
                </c:pt>
                <c:pt idx="3">
                  <c:v>14.71</c:v>
                </c:pt>
                <c:pt idx="4">
                  <c:v>13.86</c:v>
                </c:pt>
                <c:pt idx="5">
                  <c:v>13.24</c:v>
                </c:pt>
                <c:pt idx="6">
                  <c:v>13.73</c:v>
                </c:pt>
                <c:pt idx="7">
                  <c:v>2.76</c:v>
                </c:pt>
              </c:numCache>
            </c:numRef>
          </c:val>
          <c:extLst>
            <c:ext xmlns:c16="http://schemas.microsoft.com/office/drawing/2014/chart" uri="{C3380CC4-5D6E-409C-BE32-E72D297353CC}">
              <c16:uniqueId val="{00000010-C248-4AEA-A775-4ED5B897480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8088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This analysis covers the Olist Brazilian e-commerce dataset, 99,441 orders, 93,358 unique customers. The central question is why so few customers ever return, and what Olist can do about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97% is the headline. Show the chart and let the audience absorb the scale difference between 1-order and everything else. Mention that healthy e-commerce retention is 20-40%. 3% is severe.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 case. 92% more spend per person is the number. Do the math with them: 4,500 converted customers times R$148 incremental spend = R$670K from one campaign. That is the budget justification for whatever campaign we recommend.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rules out the two most common guesses. Product is not the </a:t>
            </a:r>
            <a:r>
              <a:rPr lang="en-US"/>
              <a:t>differentiator - </a:t>
            </a:r>
            <a:r>
              <a:rPr lang="en-US" dirty="0"/>
              <a:t>same categories, different order. Service is not the </a:t>
            </a:r>
            <a:r>
              <a:rPr lang="en-US"/>
              <a:t>differentiator - </a:t>
            </a:r>
            <a:r>
              <a:rPr lang="en-US" dirty="0"/>
              <a:t>review scores are basically the same. So what is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 days is the actionable number. Product is out. Service is out. What is left is timing. Olist does not reach back out. Customers who would return have to come back on their own </a:t>
            </a:r>
            <a:r>
              <a:rPr lang="en-US"/>
              <a:t>initiative - </a:t>
            </a:r>
            <a:r>
              <a:rPr lang="en-US" dirty="0"/>
              <a:t>and 97% of them don't. The intervention window is day 55-70, before the average gap closes.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Secondary finding. We ran a bonus query. Some sellers keep 22% of their customers coming back versus the platform average of 2.76%. That is 8 times better. We checked location, category, and </a:t>
            </a:r>
            <a:r>
              <a:rPr lang="en-US"/>
              <a:t>reviews - </a:t>
            </a:r>
            <a:r>
              <a:rPr lang="en-US" dirty="0"/>
              <a:t>none of them explain it. That points to something operational: shipping, packaging, follow-up communication. An audit of the top 15 sellers could surface a practice the whole platform could adopt.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recommendations. Recommendation 1 is the </a:t>
            </a:r>
            <a:r>
              <a:rPr lang="en-US"/>
              <a:t>strongest - </a:t>
            </a:r>
            <a:r>
              <a:rPr lang="en-US" dirty="0"/>
              <a:t>fully supported by data, specific timing, actionable immediately. Recommendation 2 is a hypothesis that needs testing before committing budget. Recommendation 3 is a follow-up investigation. Recommendation 4 is a 'do not do this</a:t>
            </a:r>
            <a:r>
              <a:rPr lang="en-US"/>
              <a:t>' - </a:t>
            </a:r>
            <a:r>
              <a:rPr lang="en-US" dirty="0"/>
              <a:t>important to say explicitly so resources are not misdirected.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5880295" y="0"/>
            <a:ext cx="3200400" cy="3200400"/>
          </a:xfrm>
          <a:prstGeom prst="ellipse">
            <a:avLst/>
          </a:prstGeom>
          <a:solidFill>
            <a:srgbClr val="2F5496">
              <a:alpha val="40000"/>
            </a:srgbClr>
          </a:solidFill>
          <a:ln w="12700">
            <a:solidFill>
              <a:srgbClr val="2F5496">
                <a:alpha val="40000"/>
              </a:srgbClr>
            </a:solidFill>
            <a:prstDash val="solid"/>
          </a:ln>
        </p:spPr>
      </p:sp>
      <p:sp>
        <p:nvSpPr>
          <p:cNvPr id="3" name="Shape 1"/>
          <p:cNvSpPr/>
          <p:nvPr/>
        </p:nvSpPr>
        <p:spPr>
          <a:xfrm>
            <a:off x="7083083" y="3383279"/>
            <a:ext cx="1828800" cy="1828800"/>
          </a:xfrm>
          <a:prstGeom prst="ellipse">
            <a:avLst/>
          </a:prstGeom>
          <a:solidFill>
            <a:srgbClr val="2F5496">
              <a:alpha val="25000"/>
            </a:srgbClr>
          </a:solidFill>
          <a:ln w="12700">
            <a:solidFill>
              <a:srgbClr val="2F5496">
                <a:alpha val="25000"/>
              </a:srgbClr>
            </a:solidFill>
            <a:prstDash val="solid"/>
          </a:ln>
        </p:spPr>
        <p:txBody>
          <a:bodyPr/>
          <a:lstStyle/>
          <a:p>
            <a:endParaRPr lang="en-US" dirty="0"/>
          </a:p>
        </p:txBody>
      </p:sp>
      <p:sp>
        <p:nvSpPr>
          <p:cNvPr id="4" name="Text 2"/>
          <p:cNvSpPr/>
          <p:nvPr/>
        </p:nvSpPr>
        <p:spPr>
          <a:xfrm>
            <a:off x="548640" y="1005840"/>
            <a:ext cx="8229600" cy="82296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Olist</a:t>
            </a:r>
            <a:endParaRPr lang="en-US" sz="5200" dirty="0"/>
          </a:p>
        </p:txBody>
      </p:sp>
      <p:sp>
        <p:nvSpPr>
          <p:cNvPr id="5" name="Text 3"/>
          <p:cNvSpPr/>
          <p:nvPr/>
        </p:nvSpPr>
        <p:spPr>
          <a:xfrm>
            <a:off x="548640" y="1737360"/>
            <a:ext cx="7315200" cy="640080"/>
          </a:xfrm>
          <a:prstGeom prst="rect">
            <a:avLst/>
          </a:prstGeom>
          <a:noFill/>
          <a:ln/>
        </p:spPr>
        <p:txBody>
          <a:bodyPr wrap="square" rtlCol="0" anchor="ctr"/>
          <a:lstStyle/>
          <a:p>
            <a:pPr marL="0" indent="0">
              <a:buNone/>
            </a:pPr>
            <a:r>
              <a:rPr lang="en-US" sz="3000" dirty="0">
                <a:solidFill>
                  <a:srgbClr val="CADCFC"/>
                </a:solidFill>
                <a:latin typeface="Calibri" pitchFamily="34" charset="0"/>
                <a:ea typeface="Calibri" pitchFamily="34" charset="-122"/>
                <a:cs typeface="Calibri" pitchFamily="34" charset="-120"/>
              </a:rPr>
              <a:t>Customer Retention Analysis</a:t>
            </a:r>
            <a:endParaRPr lang="en-US" sz="3000" dirty="0"/>
          </a:p>
        </p:txBody>
      </p:sp>
      <p:sp>
        <p:nvSpPr>
          <p:cNvPr id="6" name="Shape 4"/>
          <p:cNvSpPr/>
          <p:nvPr/>
        </p:nvSpPr>
        <p:spPr>
          <a:xfrm>
            <a:off x="548640" y="2514600"/>
            <a:ext cx="3200400" cy="0"/>
          </a:xfrm>
          <a:prstGeom prst="line">
            <a:avLst/>
          </a:prstGeom>
          <a:noFill/>
          <a:ln w="19050">
            <a:solidFill>
              <a:srgbClr val="CADCFC"/>
            </a:solidFill>
            <a:prstDash val="solid"/>
          </a:ln>
        </p:spPr>
      </p:sp>
      <p:sp>
        <p:nvSpPr>
          <p:cNvPr id="7" name="Text 5"/>
          <p:cNvSpPr/>
          <p:nvPr/>
        </p:nvSpPr>
        <p:spPr>
          <a:xfrm>
            <a:off x="548640" y="2697480"/>
            <a:ext cx="6858000" cy="82296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What separates one-time buyers from repeat customers,</a:t>
            </a:r>
            <a:endParaRPr lang="en-US" sz="1400" dirty="0"/>
          </a:p>
          <a:p>
            <a:pPr marL="0" indent="0">
              <a:buNone/>
            </a:pPr>
            <a:r>
              <a:rPr lang="en-US" sz="1400" i="1" dirty="0">
                <a:solidFill>
                  <a:srgbClr val="CADCFC"/>
                </a:solidFill>
                <a:latin typeface="Calibri" pitchFamily="34" charset="0"/>
                <a:ea typeface="Calibri" pitchFamily="34" charset="-122"/>
                <a:cs typeface="Calibri" pitchFamily="34" charset="-120"/>
              </a:rPr>
              <a:t>and what should Olist do about it?</a:t>
            </a:r>
            <a:endParaRPr lang="en-US" sz="1400" dirty="0"/>
          </a:p>
        </p:txBody>
      </p:sp>
      <p:sp>
        <p:nvSpPr>
          <p:cNvPr id="8" name="Text 6"/>
          <p:cNvSpPr/>
          <p:nvPr/>
        </p:nvSpPr>
        <p:spPr>
          <a:xfrm>
            <a:off x="548640" y="3931920"/>
            <a:ext cx="5486400" cy="7315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Victoria Johnson</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Business &amp; Data Analyst  |  MySQL · Python · Power BI</a:t>
            </a:r>
            <a:endParaRPr lang="en-US" sz="1300" dirty="0"/>
          </a:p>
        </p:txBody>
      </p:sp>
      <p:sp>
        <p:nvSpPr>
          <p:cNvPr id="9" name="Text 7"/>
          <p:cNvSpPr/>
          <p:nvPr/>
        </p:nvSpPr>
        <p:spPr>
          <a:xfrm>
            <a:off x="548640" y="4663440"/>
            <a:ext cx="7315200" cy="274320"/>
          </a:xfrm>
          <a:prstGeom prst="rect">
            <a:avLst/>
          </a:prstGeom>
          <a:noFill/>
          <a:ln/>
        </p:spPr>
        <p:txBody>
          <a:bodyPr wrap="square" rtlCol="0" anchor="ctr"/>
          <a:lstStyle/>
          <a:p>
            <a:pPr marL="0" indent="0">
              <a:buNone/>
            </a:pPr>
            <a:r>
              <a:rPr lang="en-US" sz="1000" dirty="0">
                <a:solidFill>
                  <a:srgbClr val="8899BB"/>
                </a:solidFill>
                <a:latin typeface="Calibri" pitchFamily="34" charset="0"/>
                <a:ea typeface="Calibri" pitchFamily="34" charset="-122"/>
                <a:cs typeface="Calibri" pitchFamily="34" charset="-120"/>
              </a:rPr>
              <a:t>Dataset: Olist Brazilian E-Commerce  |  99,441 orders  |  93,358 customers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1F3864"/>
          </a:solidFill>
          <a:ln w="12700">
            <a:solidFill>
              <a:srgbClr val="1F3864"/>
            </a:solidFill>
            <a:prstDash val="solid"/>
          </a:ln>
        </p:spPr>
      </p:sp>
      <p:sp>
        <p:nvSpPr>
          <p:cNvPr id="3" name="Text 1"/>
          <p:cNvSpPr/>
          <p:nvPr/>
        </p:nvSpPr>
        <p:spPr>
          <a:xfrm>
            <a:off x="274320" y="365760"/>
            <a:ext cx="3291840" cy="45720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The Problem</a:t>
            </a:r>
            <a:endParaRPr lang="en-US" sz="1300" dirty="0"/>
          </a:p>
        </p:txBody>
      </p:sp>
      <p:sp>
        <p:nvSpPr>
          <p:cNvPr id="4" name="Text 2"/>
          <p:cNvSpPr/>
          <p:nvPr/>
        </p:nvSpPr>
        <p:spPr>
          <a:xfrm>
            <a:off x="182880" y="822960"/>
            <a:ext cx="3657600" cy="1463040"/>
          </a:xfrm>
          <a:prstGeom prst="rect">
            <a:avLst/>
          </a:prstGeom>
          <a:noFill/>
          <a:ln/>
        </p:spPr>
        <p:txBody>
          <a:bodyPr wrap="square" rtlCol="0" anchor="ctr"/>
          <a:lstStyle/>
          <a:p>
            <a:pPr marL="0" indent="0" algn="ctr">
              <a:buNone/>
            </a:pPr>
            <a:r>
              <a:rPr lang="en-US" sz="9600" b="1" dirty="0">
                <a:solidFill>
                  <a:srgbClr val="FFFFFF"/>
                </a:solidFill>
                <a:latin typeface="Calibri" pitchFamily="34" charset="0"/>
                <a:ea typeface="Calibri" pitchFamily="34" charset="-122"/>
                <a:cs typeface="Calibri" pitchFamily="34" charset="-120"/>
              </a:rPr>
              <a:t>97%</a:t>
            </a:r>
            <a:endParaRPr lang="en-US" sz="9600" dirty="0"/>
          </a:p>
        </p:txBody>
      </p:sp>
      <p:sp>
        <p:nvSpPr>
          <p:cNvPr id="5" name="Text 3"/>
          <p:cNvSpPr/>
          <p:nvPr/>
        </p:nvSpPr>
        <p:spPr>
          <a:xfrm>
            <a:off x="274320" y="2286000"/>
            <a:ext cx="3291840" cy="1097280"/>
          </a:xfrm>
          <a:prstGeom prst="rect">
            <a:avLst/>
          </a:prstGeom>
          <a:noFill/>
          <a:ln/>
        </p:spPr>
        <p:txBody>
          <a:bodyPr wrap="square"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of customers buy</a:t>
            </a:r>
            <a:endParaRPr lang="en-US" sz="1600" dirty="0"/>
          </a:p>
          <a:p>
            <a:pPr marL="0" indent="0" algn="ctr">
              <a:buNone/>
            </a:pPr>
            <a:r>
              <a:rPr lang="en-US" sz="1600" dirty="0">
                <a:solidFill>
                  <a:srgbClr val="CADCFC"/>
                </a:solidFill>
                <a:latin typeface="Calibri" pitchFamily="34" charset="0"/>
                <a:ea typeface="Calibri" pitchFamily="34" charset="-122"/>
                <a:cs typeface="Calibri" pitchFamily="34" charset="-120"/>
              </a:rPr>
              <a:t>exactly once and</a:t>
            </a:r>
            <a:endParaRPr lang="en-US" sz="1600" dirty="0"/>
          </a:p>
          <a:p>
            <a:pPr marL="0" indent="0" algn="ctr">
              <a:buNone/>
            </a:pPr>
            <a:r>
              <a:rPr lang="en-US" sz="1600" dirty="0">
                <a:solidFill>
                  <a:srgbClr val="CADCFC"/>
                </a:solidFill>
                <a:latin typeface="Calibri" pitchFamily="34" charset="0"/>
                <a:ea typeface="Calibri" pitchFamily="34" charset="-122"/>
                <a:cs typeface="Calibri" pitchFamily="34" charset="-120"/>
              </a:rPr>
              <a:t>never return</a:t>
            </a:r>
            <a:endParaRPr lang="en-US" sz="1600" dirty="0"/>
          </a:p>
        </p:txBody>
      </p:sp>
      <p:sp>
        <p:nvSpPr>
          <p:cNvPr id="6" name="Shape 4"/>
          <p:cNvSpPr/>
          <p:nvPr/>
        </p:nvSpPr>
        <p:spPr>
          <a:xfrm>
            <a:off x="457200" y="3520440"/>
            <a:ext cx="2926080" cy="0"/>
          </a:xfrm>
          <a:prstGeom prst="line">
            <a:avLst/>
          </a:prstGeom>
          <a:noFill/>
          <a:ln w="6350">
            <a:solidFill>
              <a:srgbClr val="CADCFC"/>
            </a:solidFill>
            <a:prstDash val="solid"/>
          </a:ln>
        </p:spPr>
      </p:sp>
      <p:sp>
        <p:nvSpPr>
          <p:cNvPr id="7" name="Text 5"/>
          <p:cNvSpPr/>
          <p:nvPr/>
        </p:nvSpPr>
        <p:spPr>
          <a:xfrm>
            <a:off x="274320" y="3657600"/>
            <a:ext cx="329184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90,557</a:t>
            </a:r>
            <a:endParaRPr lang="en-US" sz="2000" dirty="0"/>
          </a:p>
          <a:p>
            <a:pPr marL="0" indent="0">
              <a:buNone/>
            </a:pPr>
            <a:r>
              <a:rPr lang="en-US" sz="1100" dirty="0">
                <a:solidFill>
                  <a:srgbClr val="CADCFC"/>
                </a:solidFill>
                <a:latin typeface="Calibri" pitchFamily="34" charset="0"/>
                <a:ea typeface="Calibri" pitchFamily="34" charset="-122"/>
                <a:cs typeface="Calibri" pitchFamily="34" charset="-120"/>
              </a:rPr>
              <a:t>customers - one order, gone</a:t>
            </a:r>
            <a:endParaRPr lang="en-US" sz="2000" dirty="0"/>
          </a:p>
        </p:txBody>
      </p:sp>
      <p:sp>
        <p:nvSpPr>
          <p:cNvPr id="8" name="Text 6"/>
          <p:cNvSpPr/>
          <p:nvPr/>
        </p:nvSpPr>
        <p:spPr>
          <a:xfrm>
            <a:off x="4114800" y="320040"/>
            <a:ext cx="4754880" cy="365760"/>
          </a:xfrm>
          <a:prstGeom prst="rect">
            <a:avLst/>
          </a:prstGeom>
          <a:noFill/>
          <a:ln/>
        </p:spPr>
        <p:txBody>
          <a:bodyPr wrap="square" rtlCol="0" anchor="ctr"/>
          <a:lstStyle/>
          <a:p>
            <a:pPr marL="0" indent="0">
              <a:buNone/>
            </a:pPr>
            <a:r>
              <a:rPr lang="en-US" sz="1500" b="1" dirty="0">
                <a:solidFill>
                  <a:srgbClr val="1F3864"/>
                </a:solidFill>
                <a:latin typeface="Calibri" pitchFamily="34" charset="0"/>
                <a:ea typeface="Calibri" pitchFamily="34" charset="-122"/>
                <a:cs typeface="Calibri" pitchFamily="34" charset="-120"/>
              </a:rPr>
              <a:t>Order Frequency Breakdown</a:t>
            </a:r>
            <a:endParaRPr lang="en-US" sz="1500" dirty="0"/>
          </a:p>
        </p:txBody>
      </p:sp>
      <p:graphicFrame>
        <p:nvGraphicFramePr>
          <p:cNvPr id="9" name="Chart 0"/>
          <p:cNvGraphicFramePr/>
          <p:nvPr/>
        </p:nvGraphicFramePr>
        <p:xfrm>
          <a:off x="4023360" y="685800"/>
          <a:ext cx="48463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4023360" y="4023360"/>
            <a:ext cx="4846320" cy="457200"/>
          </a:xfrm>
          <a:prstGeom prst="rect">
            <a:avLst/>
          </a:prstGeom>
          <a:noFill/>
          <a:ln/>
        </p:spPr>
        <p:txBody>
          <a:bodyPr wrap="square" rtlCol="0" anchor="ctr"/>
          <a:lstStyle/>
          <a:p>
            <a:pPr marL="0" indent="0">
              <a:buNone/>
            </a:pPr>
            <a:r>
              <a:rPr lang="en-US" sz="1100" i="1" dirty="0">
                <a:solidFill>
                  <a:srgbClr val="595959"/>
                </a:solidFill>
                <a:latin typeface="Calibri" pitchFamily="34" charset="0"/>
                <a:ea typeface="Calibri" pitchFamily="34" charset="-122"/>
                <a:cs typeface="Calibri" pitchFamily="34" charset="-120"/>
              </a:rPr>
              <a:t>Approximately 97% of customers placed only one order in this dataset.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Do Repeat Customers Matter Financially?</a:t>
            </a:r>
            <a:endParaRPr lang="en-US" sz="2200" dirty="0"/>
          </a:p>
        </p:txBody>
      </p:sp>
      <p:sp>
        <p:nvSpPr>
          <p:cNvPr id="3" name="Text 1"/>
          <p:cNvSpPr/>
          <p:nvPr/>
        </p:nvSpPr>
        <p:spPr>
          <a:xfrm>
            <a:off x="457200" y="658368"/>
            <a:ext cx="8229600" cy="27432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They are only 3% of customers. But look at what they spend.</a:t>
            </a:r>
            <a:endParaRPr lang="en-US" sz="1200" dirty="0"/>
          </a:p>
        </p:txBody>
      </p:sp>
      <p:sp>
        <p:nvSpPr>
          <p:cNvPr id="4" name="Shape 2"/>
          <p:cNvSpPr/>
          <p:nvPr/>
        </p:nvSpPr>
        <p:spPr>
          <a:xfrm>
            <a:off x="457200" y="1051560"/>
            <a:ext cx="3931920" cy="1554480"/>
          </a:xfrm>
          <a:prstGeom prst="roundRect">
            <a:avLst>
              <a:gd name="adj" fmla="val 4706"/>
            </a:avLst>
          </a:prstGeom>
          <a:solidFill>
            <a:srgbClr val="FFFFFF"/>
          </a:solidFill>
          <a:ln w="12700">
            <a:solidFill>
              <a:srgbClr val="FFFFFF"/>
            </a:solidFill>
            <a:prstDash val="solid"/>
          </a:ln>
          <a:effectLst>
            <a:outerShdw blurRad="101600" dist="25400" dir="2700000" algn="bl" rotWithShape="0">
              <a:srgbClr val="000000">
                <a:alpha val="10000"/>
              </a:srgbClr>
            </a:outerShdw>
          </a:effectLst>
        </p:spPr>
      </p:sp>
      <p:sp>
        <p:nvSpPr>
          <p:cNvPr id="5" name="Text 3"/>
          <p:cNvSpPr/>
          <p:nvPr/>
        </p:nvSpPr>
        <p:spPr>
          <a:xfrm>
            <a:off x="548640" y="1143000"/>
            <a:ext cx="3749040" cy="274320"/>
          </a:xfrm>
          <a:prstGeom prst="rect">
            <a:avLst/>
          </a:prstGeom>
          <a:noFill/>
          <a:ln/>
        </p:spPr>
        <p:txBody>
          <a:bodyPr wrap="square" rtlCol="0" anchor="ctr"/>
          <a:lstStyle/>
          <a:p>
            <a:pPr marL="0" indent="0">
              <a:buNone/>
            </a:pPr>
            <a:r>
              <a:rPr lang="en-US" sz="1100" b="1" dirty="0">
                <a:solidFill>
                  <a:srgbClr val="595959"/>
                </a:solidFill>
                <a:latin typeface="Calibri" pitchFamily="34" charset="0"/>
                <a:ea typeface="Calibri" pitchFamily="34" charset="-122"/>
                <a:cs typeface="Calibri" pitchFamily="34" charset="-120"/>
              </a:rPr>
              <a:t>One-Time Buyers</a:t>
            </a:r>
            <a:endParaRPr lang="en-US" sz="1100" dirty="0"/>
          </a:p>
        </p:txBody>
      </p:sp>
      <p:sp>
        <p:nvSpPr>
          <p:cNvPr id="6" name="Text 4"/>
          <p:cNvSpPr/>
          <p:nvPr/>
        </p:nvSpPr>
        <p:spPr>
          <a:xfrm>
            <a:off x="548640" y="1417320"/>
            <a:ext cx="3749040" cy="640080"/>
          </a:xfrm>
          <a:prstGeom prst="rect">
            <a:avLst/>
          </a:prstGeom>
          <a:noFill/>
          <a:ln/>
        </p:spPr>
        <p:txBody>
          <a:bodyPr wrap="square" rtlCol="0" anchor="ctr"/>
          <a:lstStyle/>
          <a:p>
            <a:pPr marL="0" indent="0">
              <a:buNone/>
            </a:pPr>
            <a:r>
              <a:rPr lang="en-US" sz="4000" b="1" dirty="0">
                <a:solidFill>
                  <a:srgbClr val="1F3864"/>
                </a:solidFill>
                <a:latin typeface="Calibri" pitchFamily="34" charset="0"/>
                <a:ea typeface="Calibri" pitchFamily="34" charset="-122"/>
                <a:cs typeface="Calibri" pitchFamily="34" charset="-120"/>
              </a:rPr>
              <a:t>R$160.74</a:t>
            </a:r>
            <a:endParaRPr lang="en-US" sz="4000" dirty="0"/>
          </a:p>
        </p:txBody>
      </p:sp>
      <p:sp>
        <p:nvSpPr>
          <p:cNvPr id="7" name="Text 5"/>
          <p:cNvSpPr/>
          <p:nvPr/>
        </p:nvSpPr>
        <p:spPr>
          <a:xfrm>
            <a:off x="548640" y="2057400"/>
            <a:ext cx="3749040" cy="320040"/>
          </a:xfrm>
          <a:prstGeom prst="rect">
            <a:avLst/>
          </a:prstGeom>
          <a:noFill/>
          <a:ln/>
        </p:spPr>
        <p:txBody>
          <a:bodyPr wrap="square" rtlCol="0" anchor="ctr"/>
          <a:lstStyle/>
          <a:p>
            <a:pPr marL="0" indent="0">
              <a:buNone/>
            </a:pPr>
            <a:r>
              <a:rPr lang="en-US" sz="1100" dirty="0">
                <a:solidFill>
                  <a:srgbClr val="595959"/>
                </a:solidFill>
                <a:latin typeface="Calibri" pitchFamily="34" charset="0"/>
                <a:ea typeface="Calibri" pitchFamily="34" charset="-122"/>
                <a:cs typeface="Calibri" pitchFamily="34" charset="-120"/>
              </a:rPr>
              <a:t>avg lifetime spend per person</a:t>
            </a:r>
            <a:endParaRPr lang="en-US" sz="1100" dirty="0"/>
          </a:p>
        </p:txBody>
      </p:sp>
      <p:sp>
        <p:nvSpPr>
          <p:cNvPr id="8" name="Shape 6"/>
          <p:cNvSpPr/>
          <p:nvPr/>
        </p:nvSpPr>
        <p:spPr>
          <a:xfrm>
            <a:off x="4754880" y="1051560"/>
            <a:ext cx="3931920" cy="1554480"/>
          </a:xfrm>
          <a:prstGeom prst="roundRect">
            <a:avLst>
              <a:gd name="adj" fmla="val 4706"/>
            </a:avLst>
          </a:prstGeom>
          <a:solidFill>
            <a:srgbClr val="1F3864"/>
          </a:solidFill>
          <a:ln w="12700">
            <a:solidFill>
              <a:srgbClr val="1F3864"/>
            </a:solidFill>
            <a:prstDash val="solid"/>
          </a:ln>
          <a:effectLst>
            <a:outerShdw blurRad="101600" dist="25400" dir="2700000" algn="bl" rotWithShape="0">
              <a:srgbClr val="000000">
                <a:alpha val="10000"/>
              </a:srgbClr>
            </a:outerShdw>
          </a:effectLst>
        </p:spPr>
      </p:sp>
      <p:sp>
        <p:nvSpPr>
          <p:cNvPr id="9" name="Text 7"/>
          <p:cNvSpPr/>
          <p:nvPr/>
        </p:nvSpPr>
        <p:spPr>
          <a:xfrm>
            <a:off x="4846320" y="1143000"/>
            <a:ext cx="3749040" cy="274320"/>
          </a:xfrm>
          <a:prstGeom prst="rect">
            <a:avLst/>
          </a:prstGeom>
          <a:noFill/>
          <a:ln/>
        </p:spPr>
        <p:txBody>
          <a:bodyPr wrap="square"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Repeat Customers</a:t>
            </a:r>
            <a:endParaRPr lang="en-US" sz="1100" dirty="0"/>
          </a:p>
        </p:txBody>
      </p:sp>
      <p:sp>
        <p:nvSpPr>
          <p:cNvPr id="10" name="Text 8"/>
          <p:cNvSpPr/>
          <p:nvPr/>
        </p:nvSpPr>
        <p:spPr>
          <a:xfrm>
            <a:off x="4846320" y="1417320"/>
            <a:ext cx="3749040" cy="6400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R$308.53</a:t>
            </a:r>
            <a:endParaRPr lang="en-US" sz="4000" dirty="0"/>
          </a:p>
        </p:txBody>
      </p:sp>
      <p:sp>
        <p:nvSpPr>
          <p:cNvPr id="11" name="Text 9"/>
          <p:cNvSpPr/>
          <p:nvPr/>
        </p:nvSpPr>
        <p:spPr>
          <a:xfrm>
            <a:off x="4846320" y="2057400"/>
            <a:ext cx="374904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avg lifetime spend per person</a:t>
            </a:r>
            <a:endParaRPr lang="en-US" sz="1100" dirty="0"/>
          </a:p>
        </p:txBody>
      </p:sp>
      <p:sp>
        <p:nvSpPr>
          <p:cNvPr id="12" name="Shape 10"/>
          <p:cNvSpPr/>
          <p:nvPr/>
        </p:nvSpPr>
        <p:spPr>
          <a:xfrm>
            <a:off x="2971800" y="2377440"/>
            <a:ext cx="2743200" cy="640080"/>
          </a:xfrm>
          <a:prstGeom prst="roundRect">
            <a:avLst>
              <a:gd name="adj" fmla="val 12500"/>
            </a:avLst>
          </a:prstGeom>
          <a:solidFill>
            <a:srgbClr val="0F7B3D"/>
          </a:solidFill>
          <a:ln w="12700">
            <a:solidFill>
              <a:srgbClr val="0F7B3D"/>
            </a:solidFill>
            <a:prstDash val="solid"/>
          </a:ln>
        </p:spPr>
      </p:sp>
      <p:sp>
        <p:nvSpPr>
          <p:cNvPr id="13" name="Text 11"/>
          <p:cNvSpPr/>
          <p:nvPr/>
        </p:nvSpPr>
        <p:spPr>
          <a:xfrm>
            <a:off x="3200400" y="2441448"/>
            <a:ext cx="2117188" cy="5303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92% MORE per person</a:t>
            </a:r>
            <a:endParaRPr lang="en-US" sz="1400" dirty="0"/>
          </a:p>
        </p:txBody>
      </p:sp>
      <p:sp>
        <p:nvSpPr>
          <p:cNvPr id="14" name="Text 12"/>
          <p:cNvSpPr/>
          <p:nvPr/>
        </p:nvSpPr>
        <p:spPr>
          <a:xfrm>
            <a:off x="457200" y="2880360"/>
            <a:ext cx="3657600" cy="320040"/>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Revenue Split</a:t>
            </a:r>
            <a:endParaRPr lang="en-US" sz="1300" dirty="0"/>
          </a:p>
        </p:txBody>
      </p:sp>
      <p:graphicFrame>
        <p:nvGraphicFramePr>
          <p:cNvPr id="15" name="Chart 0"/>
          <p:cNvGraphicFramePr/>
          <p:nvPr/>
        </p:nvGraphicFramePr>
        <p:xfrm>
          <a:off x="274320" y="3154680"/>
          <a:ext cx="411480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p:nvPr/>
        </p:nvSpPr>
        <p:spPr>
          <a:xfrm>
            <a:off x="4480560" y="3364992"/>
            <a:ext cx="4593102" cy="1249210"/>
          </a:xfrm>
          <a:prstGeom prst="rect">
            <a:avLst/>
          </a:prstGeom>
          <a:noFill/>
          <a:ln>
            <a:solidFill>
              <a:srgbClr val="E2E8F0"/>
            </a:solidFill>
          </a:ln>
        </p:spPr>
        <p:txBody>
          <a:bodyPr wrap="square" rtlCol="0" anchor="ctr"/>
          <a:lstStyle/>
          <a:p>
            <a:pPr marL="0" indent="0">
              <a:buNone/>
            </a:pPr>
            <a:r>
              <a:rPr lang="en-US" sz="1200" b="1" dirty="0">
                <a:solidFill>
                  <a:srgbClr val="595959"/>
                </a:solidFill>
                <a:latin typeface="Calibri" pitchFamily="34" charset="0"/>
                <a:ea typeface="Calibri" pitchFamily="34" charset="-122"/>
                <a:cs typeface="Calibri" pitchFamily="34" charset="-120"/>
              </a:rPr>
              <a:t>The math: </a:t>
            </a:r>
            <a:r>
              <a:rPr lang="en-US" sz="1200" dirty="0">
                <a:solidFill>
                  <a:srgbClr val="595959"/>
                </a:solidFill>
                <a:latin typeface="Calibri" pitchFamily="34" charset="0"/>
                <a:ea typeface="Calibri" pitchFamily="34" charset="-122"/>
                <a:cs typeface="Calibri" pitchFamily="34" charset="-120"/>
              </a:rPr>
              <a:t>If a future retention campaign converted 5% of one-time buyers into repeat customers, using the observed difference in average lifetime spend, the additional revenue could be approximately R$670,000.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Why Are They Leaving? Two Hypotheses Ruled Out.</a:t>
            </a:r>
            <a:endParaRPr lang="en-US" sz="2200" dirty="0"/>
          </a:p>
        </p:txBody>
      </p:sp>
      <p:sp>
        <p:nvSpPr>
          <p:cNvPr id="3" name="Text 1"/>
          <p:cNvSpPr/>
          <p:nvPr/>
        </p:nvSpPr>
        <p:spPr>
          <a:xfrm>
            <a:off x="457200" y="658368"/>
            <a:ext cx="8229600" cy="27432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Before recommending a fix, we tested the two most obvious explanations.</a:t>
            </a:r>
            <a:endParaRPr lang="en-US" sz="1200" dirty="0"/>
          </a:p>
        </p:txBody>
      </p:sp>
      <p:sp>
        <p:nvSpPr>
          <p:cNvPr id="4" name="Shape 2"/>
          <p:cNvSpPr/>
          <p:nvPr/>
        </p:nvSpPr>
        <p:spPr>
          <a:xfrm>
            <a:off x="365760" y="1051560"/>
            <a:ext cx="4114800" cy="3566160"/>
          </a:xfrm>
          <a:prstGeom prst="roundRect">
            <a:avLst>
              <a:gd name="adj" fmla="val 2564"/>
            </a:avLst>
          </a:prstGeom>
          <a:solidFill>
            <a:srgbClr val="F4F6FB"/>
          </a:solidFill>
          <a:ln w="12700">
            <a:solidFill>
              <a:srgbClr val="F4F6FB"/>
            </a:solidFill>
            <a:prstDash val="solid"/>
          </a:ln>
          <a:effectLst>
            <a:outerShdw blurRad="101600" dist="25400" dir="2700000" algn="bl" rotWithShape="0">
              <a:srgbClr val="000000">
                <a:alpha val="10000"/>
              </a:srgbClr>
            </a:outerShdw>
          </a:effectLst>
        </p:spPr>
      </p:sp>
      <p:sp>
        <p:nvSpPr>
          <p:cNvPr id="5" name="Text 3"/>
          <p:cNvSpPr/>
          <p:nvPr/>
        </p:nvSpPr>
        <p:spPr>
          <a:xfrm>
            <a:off x="548640" y="1143000"/>
            <a:ext cx="3749040" cy="274320"/>
          </a:xfrm>
          <a:prstGeom prst="rect">
            <a:avLst/>
          </a:prstGeom>
          <a:noFill/>
          <a:ln/>
        </p:spPr>
        <p:txBody>
          <a:bodyPr wrap="square" rtlCol="0" anchor="ctr"/>
          <a:lstStyle/>
          <a:p>
            <a:pPr marL="0" indent="0">
              <a:buNone/>
            </a:pPr>
            <a:r>
              <a:rPr lang="en-US" sz="1000" b="1" dirty="0">
                <a:solidFill>
                  <a:srgbClr val="595959"/>
                </a:solidFill>
                <a:latin typeface="Calibri" pitchFamily="34" charset="0"/>
                <a:ea typeface="Calibri" pitchFamily="34" charset="-122"/>
                <a:cs typeface="Calibri" pitchFamily="34" charset="-120"/>
              </a:rPr>
              <a:t>Hypothesis 1</a:t>
            </a:r>
            <a:endParaRPr lang="en-US" sz="1000" dirty="0"/>
          </a:p>
        </p:txBody>
      </p:sp>
      <p:sp>
        <p:nvSpPr>
          <p:cNvPr id="6" name="Text 4"/>
          <p:cNvSpPr/>
          <p:nvPr/>
        </p:nvSpPr>
        <p:spPr>
          <a:xfrm>
            <a:off x="548640" y="1417320"/>
            <a:ext cx="3749040" cy="594360"/>
          </a:xfrm>
          <a:prstGeom prst="rect">
            <a:avLst/>
          </a:prstGeom>
          <a:noFill/>
          <a:ln/>
        </p:spPr>
        <p:txBody>
          <a:bodyPr wrap="square" rtlCol="0" anchor="ctr"/>
          <a:lstStyle/>
          <a:p>
            <a:pPr marL="0" indent="0">
              <a:buNone/>
            </a:pPr>
            <a:r>
              <a:rPr lang="en-US" sz="1500" b="1" dirty="0">
                <a:solidFill>
                  <a:srgbClr val="1F3864"/>
                </a:solidFill>
                <a:latin typeface="Calibri" pitchFamily="34" charset="0"/>
                <a:ea typeface="Calibri" pitchFamily="34" charset="-122"/>
                <a:cs typeface="Calibri" pitchFamily="34" charset="-120"/>
              </a:rPr>
              <a:t>Repeat buyers purchase</a:t>
            </a:r>
            <a:endParaRPr lang="en-US" sz="1500" dirty="0"/>
          </a:p>
          <a:p>
            <a:pPr marL="0" indent="0">
              <a:buNone/>
            </a:pPr>
            <a:r>
              <a:rPr lang="en-US" sz="1500" b="1" dirty="0">
                <a:solidFill>
                  <a:srgbClr val="1F3864"/>
                </a:solidFill>
                <a:latin typeface="Calibri" pitchFamily="34" charset="0"/>
                <a:ea typeface="Calibri" pitchFamily="34" charset="-122"/>
                <a:cs typeface="Calibri" pitchFamily="34" charset="-120"/>
              </a:rPr>
              <a:t>different products</a:t>
            </a:r>
            <a:endParaRPr lang="en-US" sz="1500" dirty="0"/>
          </a:p>
        </p:txBody>
      </p:sp>
      <p:graphicFrame>
        <p:nvGraphicFramePr>
          <p:cNvPr id="7" name="Chart 0"/>
          <p:cNvGraphicFramePr/>
          <p:nvPr/>
        </p:nvGraphicFramePr>
        <p:xfrm>
          <a:off x="365760" y="2057400"/>
          <a:ext cx="411480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548640" y="4297680"/>
            <a:ext cx="1645920" cy="256032"/>
          </a:xfrm>
          <a:prstGeom prst="rect">
            <a:avLst/>
          </a:prstGeom>
          <a:solidFill>
            <a:srgbClr val="C00000"/>
          </a:solid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RULED OUT</a:t>
            </a:r>
            <a:endParaRPr lang="en-US" sz="1000" dirty="0"/>
          </a:p>
        </p:txBody>
      </p:sp>
      <p:sp>
        <p:nvSpPr>
          <p:cNvPr id="9" name="Text 6"/>
          <p:cNvSpPr/>
          <p:nvPr/>
        </p:nvSpPr>
        <p:spPr>
          <a:xfrm>
            <a:off x="2286000" y="4315968"/>
            <a:ext cx="2103120" cy="256032"/>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Same 4 of 5 categories appear in both groups.</a:t>
            </a:r>
            <a:endParaRPr lang="en-US" sz="1000" dirty="0"/>
          </a:p>
        </p:txBody>
      </p:sp>
      <p:sp>
        <p:nvSpPr>
          <p:cNvPr id="10" name="Shape 7"/>
          <p:cNvSpPr/>
          <p:nvPr/>
        </p:nvSpPr>
        <p:spPr>
          <a:xfrm>
            <a:off x="4663440" y="1051560"/>
            <a:ext cx="4114800" cy="3566160"/>
          </a:xfrm>
          <a:prstGeom prst="roundRect">
            <a:avLst>
              <a:gd name="adj" fmla="val 2564"/>
            </a:avLst>
          </a:prstGeom>
          <a:solidFill>
            <a:srgbClr val="F4F6FB"/>
          </a:solidFill>
          <a:ln w="12700">
            <a:solidFill>
              <a:srgbClr val="F4F6FB"/>
            </a:solidFill>
            <a:prstDash val="solid"/>
          </a:ln>
          <a:effectLst>
            <a:outerShdw blurRad="101600" dist="25400" dir="2700000" algn="bl" rotWithShape="0">
              <a:srgbClr val="000000">
                <a:alpha val="10000"/>
              </a:srgbClr>
            </a:outerShdw>
          </a:effectLst>
        </p:spPr>
      </p:sp>
      <p:sp>
        <p:nvSpPr>
          <p:cNvPr id="11" name="Text 8"/>
          <p:cNvSpPr/>
          <p:nvPr/>
        </p:nvSpPr>
        <p:spPr>
          <a:xfrm>
            <a:off x="4846320" y="1143000"/>
            <a:ext cx="3749040" cy="274320"/>
          </a:xfrm>
          <a:prstGeom prst="rect">
            <a:avLst/>
          </a:prstGeom>
          <a:noFill/>
          <a:ln/>
        </p:spPr>
        <p:txBody>
          <a:bodyPr wrap="square" rtlCol="0" anchor="ctr"/>
          <a:lstStyle/>
          <a:p>
            <a:pPr marL="0" indent="0">
              <a:buNone/>
            </a:pPr>
            <a:r>
              <a:rPr lang="en-US" sz="1000" b="1" dirty="0">
                <a:solidFill>
                  <a:srgbClr val="595959"/>
                </a:solidFill>
                <a:latin typeface="Calibri" pitchFamily="34" charset="0"/>
                <a:ea typeface="Calibri" pitchFamily="34" charset="-122"/>
                <a:cs typeface="Calibri" pitchFamily="34" charset="-120"/>
              </a:rPr>
              <a:t>Hypothesis 2</a:t>
            </a:r>
            <a:endParaRPr lang="en-US" sz="1000" dirty="0"/>
          </a:p>
        </p:txBody>
      </p:sp>
      <p:sp>
        <p:nvSpPr>
          <p:cNvPr id="12" name="Text 9"/>
          <p:cNvSpPr/>
          <p:nvPr/>
        </p:nvSpPr>
        <p:spPr>
          <a:xfrm>
            <a:off x="4846320" y="1417320"/>
            <a:ext cx="3749040" cy="594360"/>
          </a:xfrm>
          <a:prstGeom prst="rect">
            <a:avLst/>
          </a:prstGeom>
          <a:noFill/>
          <a:ln/>
        </p:spPr>
        <p:txBody>
          <a:bodyPr wrap="square" rtlCol="0" anchor="ctr"/>
          <a:lstStyle/>
          <a:p>
            <a:pPr marL="0" indent="0">
              <a:buNone/>
            </a:pPr>
            <a:r>
              <a:rPr lang="en-US" sz="1500" b="1" dirty="0">
                <a:solidFill>
                  <a:srgbClr val="1F3864"/>
                </a:solidFill>
                <a:latin typeface="Calibri" pitchFamily="34" charset="0"/>
                <a:ea typeface="Calibri" pitchFamily="34" charset="-122"/>
                <a:cs typeface="Calibri" pitchFamily="34" charset="-120"/>
              </a:rPr>
              <a:t>One-time buyers had</a:t>
            </a:r>
            <a:endParaRPr lang="en-US" sz="1500" dirty="0"/>
          </a:p>
          <a:p>
            <a:pPr marL="0" indent="0">
              <a:buNone/>
            </a:pPr>
            <a:r>
              <a:rPr lang="en-US" sz="1500" b="1" dirty="0">
                <a:solidFill>
                  <a:srgbClr val="1F3864"/>
                </a:solidFill>
                <a:latin typeface="Calibri" pitchFamily="34" charset="0"/>
                <a:ea typeface="Calibri" pitchFamily="34" charset="-122"/>
                <a:cs typeface="Calibri" pitchFamily="34" charset="-120"/>
              </a:rPr>
              <a:t>a worse experience</a:t>
            </a:r>
            <a:endParaRPr lang="en-US" sz="1500" dirty="0"/>
          </a:p>
        </p:txBody>
      </p:sp>
      <p:graphicFrame>
        <p:nvGraphicFramePr>
          <p:cNvPr id="13" name="Chart 1"/>
          <p:cNvGraphicFramePr/>
          <p:nvPr/>
        </p:nvGraphicFramePr>
        <p:xfrm>
          <a:off x="4663440" y="2057400"/>
          <a:ext cx="4114800" cy="192024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 10"/>
          <p:cNvSpPr/>
          <p:nvPr/>
        </p:nvSpPr>
        <p:spPr>
          <a:xfrm>
            <a:off x="4846320" y="4297680"/>
            <a:ext cx="1645920" cy="256032"/>
          </a:xfrm>
          <a:prstGeom prst="rect">
            <a:avLst/>
          </a:prstGeom>
          <a:solidFill>
            <a:srgbClr val="C00000"/>
          </a:solid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RULED OUT</a:t>
            </a:r>
            <a:endParaRPr lang="en-US" sz="1000" dirty="0"/>
          </a:p>
        </p:txBody>
      </p:sp>
      <p:sp>
        <p:nvSpPr>
          <p:cNvPr id="15" name="Text 11"/>
          <p:cNvSpPr/>
          <p:nvPr/>
        </p:nvSpPr>
        <p:spPr>
          <a:xfrm>
            <a:off x="6583680" y="4315968"/>
            <a:ext cx="2103120" cy="256032"/>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4.15 vs 4.21 - virtually identical.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Real Finding: It Is About Timing.</a:t>
            </a:r>
            <a:endParaRPr lang="en-US" sz="2200" dirty="0"/>
          </a:p>
        </p:txBody>
      </p:sp>
      <p:sp>
        <p:nvSpPr>
          <p:cNvPr id="3" name="Text 1"/>
          <p:cNvSpPr/>
          <p:nvPr/>
        </p:nvSpPr>
        <p:spPr>
          <a:xfrm>
            <a:off x="457200" y="713232"/>
            <a:ext cx="8229600" cy="27432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Product ruled out. Service ruled out. What remains is a gap in when Olist reaches back out.</a:t>
            </a:r>
            <a:endParaRPr lang="en-US" sz="1200" dirty="0"/>
          </a:p>
        </p:txBody>
      </p:sp>
      <p:sp>
        <p:nvSpPr>
          <p:cNvPr id="4" name="Shape 2"/>
          <p:cNvSpPr/>
          <p:nvPr/>
        </p:nvSpPr>
        <p:spPr>
          <a:xfrm>
            <a:off x="457200" y="1143000"/>
            <a:ext cx="3200400" cy="2926080"/>
          </a:xfrm>
          <a:prstGeom prst="roundRect">
            <a:avLst>
              <a:gd name="adj" fmla="val 3750"/>
            </a:avLst>
          </a:prstGeom>
          <a:solidFill>
            <a:srgbClr val="2F5496"/>
          </a:solidFill>
          <a:ln w="12700">
            <a:solidFill>
              <a:srgbClr val="2F5496"/>
            </a:solidFill>
            <a:prstDash val="solid"/>
          </a:ln>
          <a:effectLst>
            <a:outerShdw blurRad="101600" dist="25400" dir="2700000" algn="bl" rotWithShape="0">
              <a:srgbClr val="000000">
                <a:alpha val="10000"/>
              </a:srgbClr>
            </a:outerShdw>
          </a:effectLst>
        </p:spPr>
      </p:sp>
      <p:sp>
        <p:nvSpPr>
          <p:cNvPr id="5" name="Text 3"/>
          <p:cNvSpPr/>
          <p:nvPr/>
        </p:nvSpPr>
        <p:spPr>
          <a:xfrm>
            <a:off x="457200" y="1234440"/>
            <a:ext cx="3200400" cy="1645920"/>
          </a:xfrm>
          <a:prstGeom prst="rect">
            <a:avLst/>
          </a:prstGeom>
          <a:noFill/>
          <a:ln/>
        </p:spPr>
        <p:txBody>
          <a:bodyPr wrap="square" rtlCol="0" anchor="ctr"/>
          <a:lstStyle/>
          <a:p>
            <a:pPr marL="0" indent="0" algn="ctr">
              <a:buNone/>
            </a:pPr>
            <a:r>
              <a:rPr lang="en-US" sz="11000" b="1" dirty="0">
                <a:solidFill>
                  <a:srgbClr val="FFFFFF"/>
                </a:solidFill>
                <a:latin typeface="Calibri" pitchFamily="34" charset="0"/>
                <a:ea typeface="Calibri" pitchFamily="34" charset="-122"/>
                <a:cs typeface="Calibri" pitchFamily="34" charset="-120"/>
              </a:rPr>
              <a:t>81</a:t>
            </a:r>
            <a:endParaRPr lang="en-US" sz="11000" dirty="0"/>
          </a:p>
        </p:txBody>
      </p:sp>
      <p:sp>
        <p:nvSpPr>
          <p:cNvPr id="6" name="Text 4"/>
          <p:cNvSpPr/>
          <p:nvPr/>
        </p:nvSpPr>
        <p:spPr>
          <a:xfrm>
            <a:off x="457200" y="2743200"/>
            <a:ext cx="3200400" cy="457200"/>
          </a:xfrm>
          <a:prstGeom prst="rect">
            <a:avLst/>
          </a:prstGeom>
          <a:noFill/>
          <a:ln/>
        </p:spPr>
        <p:txBody>
          <a:bodyPr wrap="square" rtlCol="0" anchor="ctr"/>
          <a:lstStyle/>
          <a:p>
            <a:pPr marL="0" indent="0" algn="ctr">
              <a:buNone/>
            </a:pPr>
            <a:r>
              <a:rPr lang="en-US" sz="2400" dirty="0">
                <a:solidFill>
                  <a:srgbClr val="CADCFC"/>
                </a:solidFill>
                <a:latin typeface="Calibri" pitchFamily="34" charset="0"/>
                <a:ea typeface="Calibri" pitchFamily="34" charset="-122"/>
                <a:cs typeface="Calibri" pitchFamily="34" charset="-120"/>
              </a:rPr>
              <a:t>days</a:t>
            </a:r>
            <a:endParaRPr lang="en-US" sz="2400" dirty="0"/>
          </a:p>
        </p:txBody>
      </p:sp>
      <p:sp>
        <p:nvSpPr>
          <p:cNvPr id="7" name="Text 5"/>
          <p:cNvSpPr/>
          <p:nvPr/>
        </p:nvSpPr>
        <p:spPr>
          <a:xfrm>
            <a:off x="457200" y="3200400"/>
            <a:ext cx="3200400" cy="594360"/>
          </a:xfrm>
          <a:prstGeom prst="rect">
            <a:avLst/>
          </a:prstGeom>
          <a:noFill/>
          <a:ln/>
        </p:spPr>
        <p:txBody>
          <a:bodyPr wrap="square"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average gap before</a:t>
            </a:r>
            <a:endParaRPr lang="en-US" sz="1300" dirty="0"/>
          </a:p>
          <a:p>
            <a:pPr marL="0" indent="0" algn="ctr">
              <a:buNone/>
            </a:pPr>
            <a:r>
              <a:rPr lang="en-US" sz="1300" dirty="0">
                <a:solidFill>
                  <a:srgbClr val="CADCFC"/>
                </a:solidFill>
                <a:latin typeface="Calibri" pitchFamily="34" charset="0"/>
                <a:ea typeface="Calibri" pitchFamily="34" charset="-122"/>
                <a:cs typeface="Calibri" pitchFamily="34" charset="-120"/>
              </a:rPr>
              <a:t>a customer returns</a:t>
            </a:r>
            <a:endParaRPr lang="en-US" sz="1300" dirty="0"/>
          </a:p>
        </p:txBody>
      </p:sp>
      <p:sp>
        <p:nvSpPr>
          <p:cNvPr id="8" name="Text 6"/>
          <p:cNvSpPr/>
          <p:nvPr/>
        </p:nvSpPr>
        <p:spPr>
          <a:xfrm>
            <a:off x="3931920" y="1097280"/>
            <a:ext cx="493776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Days Between Consecutive Purchases</a:t>
            </a:r>
            <a:endParaRPr lang="en-US" sz="1300" dirty="0"/>
          </a:p>
        </p:txBody>
      </p:sp>
      <p:graphicFrame>
        <p:nvGraphicFramePr>
          <p:cNvPr id="9" name="Chart 0"/>
          <p:cNvGraphicFramePr/>
          <p:nvPr/>
        </p:nvGraphicFramePr>
        <p:xfrm>
          <a:off x="3840480" y="1417320"/>
          <a:ext cx="502920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457200" y="4251960"/>
            <a:ext cx="8321040" cy="54864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The first return is the hardest to earn. After that, the gap drops to 60-63 days and stays consistent. The window is day 55-80 after the first order.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Secondary Finding: Some Sellers Retain Far Better.</a:t>
            </a:r>
            <a:endParaRPr lang="en-US" sz="2200" dirty="0"/>
          </a:p>
        </p:txBody>
      </p:sp>
      <p:sp>
        <p:nvSpPr>
          <p:cNvPr id="3" name="Text 1"/>
          <p:cNvSpPr/>
          <p:nvPr/>
        </p:nvSpPr>
        <p:spPr>
          <a:xfrm>
            <a:off x="457200" y="658368"/>
            <a:ext cx="8229600" cy="27432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Platform average repeat rate: 2.76%.  Top sellers reach 22%.  The cause is not location, category, or reviews.</a:t>
            </a:r>
            <a:endParaRPr lang="en-US" sz="1200" dirty="0"/>
          </a:p>
        </p:txBody>
      </p:sp>
      <p:graphicFrame>
        <p:nvGraphicFramePr>
          <p:cNvPr id="4" name="Chart 0"/>
          <p:cNvGraphicFramePr/>
          <p:nvPr/>
        </p:nvGraphicFramePr>
        <p:xfrm>
          <a:off x="365760" y="1005840"/>
          <a:ext cx="548640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035040" y="1051560"/>
            <a:ext cx="2834640" cy="1143000"/>
          </a:xfrm>
          <a:prstGeom prst="roundRect">
            <a:avLst>
              <a:gd name="adj" fmla="val 6400"/>
            </a:avLst>
          </a:prstGeom>
          <a:solidFill>
            <a:srgbClr val="F4F6FB"/>
          </a:solidFill>
          <a:ln w="12700">
            <a:solidFill>
              <a:srgbClr val="F4F6FB"/>
            </a:solidFill>
            <a:prstDash val="solid"/>
          </a:ln>
          <a:effectLst>
            <a:outerShdw blurRad="101600" dist="25400" dir="2700000" algn="bl" rotWithShape="0">
              <a:srgbClr val="000000">
                <a:alpha val="10000"/>
              </a:srgbClr>
            </a:outerShdw>
          </a:effectLst>
        </p:spPr>
      </p:sp>
      <p:sp>
        <p:nvSpPr>
          <p:cNvPr id="6" name="Text 3"/>
          <p:cNvSpPr/>
          <p:nvPr/>
        </p:nvSpPr>
        <p:spPr>
          <a:xfrm>
            <a:off x="6172200" y="1124712"/>
            <a:ext cx="2560320" cy="274320"/>
          </a:xfrm>
          <a:prstGeom prst="rect">
            <a:avLst/>
          </a:prstGeom>
          <a:noFill/>
          <a:ln/>
        </p:spPr>
        <p:txBody>
          <a:bodyPr wrap="square" rtlCol="0" anchor="ctr"/>
          <a:lstStyle/>
          <a:p>
            <a:pPr marL="0" indent="0">
              <a:buNone/>
            </a:pPr>
            <a:r>
              <a:rPr lang="en-US" sz="1000" b="1" dirty="0">
                <a:solidFill>
                  <a:srgbClr val="C00000"/>
                </a:solidFill>
                <a:latin typeface="Calibri" pitchFamily="34" charset="0"/>
                <a:ea typeface="Calibri" pitchFamily="34" charset="-122"/>
                <a:cs typeface="Calibri" pitchFamily="34" charset="-120"/>
              </a:rPr>
              <a:t>Location - RULED OUT</a:t>
            </a:r>
            <a:endParaRPr lang="en-US" sz="1000" dirty="0"/>
          </a:p>
        </p:txBody>
      </p:sp>
      <p:sp>
        <p:nvSpPr>
          <p:cNvPr id="7" name="Text 4"/>
          <p:cNvSpPr/>
          <p:nvPr/>
        </p:nvSpPr>
        <p:spPr>
          <a:xfrm>
            <a:off x="6172200" y="1399032"/>
            <a:ext cx="2560320" cy="594360"/>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Top sellers span 5 different states. No regional pattern.</a:t>
            </a:r>
            <a:endParaRPr lang="en-US" sz="1000" dirty="0"/>
          </a:p>
        </p:txBody>
      </p:sp>
      <p:sp>
        <p:nvSpPr>
          <p:cNvPr id="8" name="Shape 5"/>
          <p:cNvSpPr/>
          <p:nvPr/>
        </p:nvSpPr>
        <p:spPr>
          <a:xfrm>
            <a:off x="6035040" y="2377440"/>
            <a:ext cx="2834640" cy="1143000"/>
          </a:xfrm>
          <a:prstGeom prst="roundRect">
            <a:avLst>
              <a:gd name="adj" fmla="val 6400"/>
            </a:avLst>
          </a:prstGeom>
          <a:solidFill>
            <a:srgbClr val="F4F6FB"/>
          </a:solidFill>
          <a:ln w="12700">
            <a:solidFill>
              <a:srgbClr val="F4F6FB"/>
            </a:solidFill>
            <a:prstDash val="solid"/>
          </a:ln>
          <a:effectLst>
            <a:outerShdw blurRad="101600" dist="25400" dir="2700000" algn="bl" rotWithShape="0">
              <a:srgbClr val="000000">
                <a:alpha val="10000"/>
              </a:srgbClr>
            </a:outerShdw>
          </a:effectLst>
        </p:spPr>
      </p:sp>
      <p:sp>
        <p:nvSpPr>
          <p:cNvPr id="9" name="Text 6"/>
          <p:cNvSpPr/>
          <p:nvPr/>
        </p:nvSpPr>
        <p:spPr>
          <a:xfrm>
            <a:off x="6172200" y="2450592"/>
            <a:ext cx="2560320" cy="274320"/>
          </a:xfrm>
          <a:prstGeom prst="rect">
            <a:avLst/>
          </a:prstGeom>
          <a:noFill/>
          <a:ln/>
        </p:spPr>
        <p:txBody>
          <a:bodyPr wrap="square" rtlCol="0" anchor="ctr"/>
          <a:lstStyle/>
          <a:p>
            <a:pPr marL="0" indent="0">
              <a:buNone/>
            </a:pPr>
            <a:r>
              <a:rPr lang="en-US" sz="1000" b="1" dirty="0">
                <a:solidFill>
                  <a:srgbClr val="C00000"/>
                </a:solidFill>
                <a:latin typeface="Calibri" pitchFamily="34" charset="0"/>
                <a:ea typeface="Calibri" pitchFamily="34" charset="-122"/>
                <a:cs typeface="Calibri" pitchFamily="34" charset="-120"/>
              </a:rPr>
              <a:t>Category - RULED OUT</a:t>
            </a:r>
            <a:endParaRPr lang="en-US" sz="1000" dirty="0"/>
          </a:p>
        </p:txBody>
      </p:sp>
      <p:sp>
        <p:nvSpPr>
          <p:cNvPr id="10" name="Text 7"/>
          <p:cNvSpPr/>
          <p:nvPr/>
        </p:nvSpPr>
        <p:spPr>
          <a:xfrm>
            <a:off x="6172200" y="2724912"/>
            <a:ext cx="2560320" cy="594360"/>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Same categories appear in both high and low retention sellers.</a:t>
            </a:r>
            <a:endParaRPr lang="en-US" sz="1000" dirty="0"/>
          </a:p>
        </p:txBody>
      </p:sp>
      <p:sp>
        <p:nvSpPr>
          <p:cNvPr id="11" name="Shape 8"/>
          <p:cNvSpPr/>
          <p:nvPr/>
        </p:nvSpPr>
        <p:spPr>
          <a:xfrm>
            <a:off x="6035040" y="3771900"/>
            <a:ext cx="2834640" cy="1143000"/>
          </a:xfrm>
          <a:prstGeom prst="roundRect">
            <a:avLst>
              <a:gd name="adj" fmla="val 6400"/>
            </a:avLst>
          </a:prstGeom>
          <a:solidFill>
            <a:srgbClr val="F4F6FB"/>
          </a:solidFill>
          <a:ln w="12700">
            <a:solidFill>
              <a:srgbClr val="F4F6FB"/>
            </a:solidFill>
            <a:prstDash val="solid"/>
          </a:ln>
          <a:effectLst>
            <a:outerShdw blurRad="101600" dist="25400" dir="2700000" algn="bl" rotWithShape="0">
              <a:srgbClr val="000000">
                <a:alpha val="10000"/>
              </a:srgbClr>
            </a:outerShdw>
          </a:effectLst>
        </p:spPr>
      </p:sp>
      <p:sp>
        <p:nvSpPr>
          <p:cNvPr id="12" name="Text 9"/>
          <p:cNvSpPr/>
          <p:nvPr/>
        </p:nvSpPr>
        <p:spPr>
          <a:xfrm>
            <a:off x="6172200" y="3776472"/>
            <a:ext cx="2560320" cy="274320"/>
          </a:xfrm>
          <a:prstGeom prst="rect">
            <a:avLst/>
          </a:prstGeom>
          <a:noFill/>
          <a:ln/>
        </p:spPr>
        <p:txBody>
          <a:bodyPr wrap="square" rtlCol="0" anchor="ctr"/>
          <a:lstStyle/>
          <a:p>
            <a:pPr marL="0" indent="0">
              <a:buNone/>
            </a:pPr>
            <a:r>
              <a:rPr lang="en-US" sz="1000" b="1" dirty="0">
                <a:solidFill>
                  <a:srgbClr val="C00000"/>
                </a:solidFill>
                <a:latin typeface="Calibri" pitchFamily="34" charset="0"/>
                <a:ea typeface="Calibri" pitchFamily="34" charset="-122"/>
                <a:cs typeface="Calibri" pitchFamily="34" charset="-120"/>
              </a:rPr>
              <a:t>Reviews - RULED OUT</a:t>
            </a:r>
            <a:endParaRPr lang="en-US" sz="1000" dirty="0"/>
          </a:p>
        </p:txBody>
      </p:sp>
      <p:sp>
        <p:nvSpPr>
          <p:cNvPr id="13" name="Text 10"/>
          <p:cNvSpPr/>
          <p:nvPr/>
        </p:nvSpPr>
        <p:spPr>
          <a:xfrm>
            <a:off x="6035040" y="4027930"/>
            <a:ext cx="2697480" cy="354156"/>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Review scores show no meaningful gap between groups.</a:t>
            </a:r>
            <a:endParaRPr lang="en-US" sz="1000" dirty="0"/>
          </a:p>
        </p:txBody>
      </p:sp>
      <p:sp>
        <p:nvSpPr>
          <p:cNvPr id="14" name="Text 11"/>
          <p:cNvSpPr/>
          <p:nvPr/>
        </p:nvSpPr>
        <p:spPr>
          <a:xfrm>
            <a:off x="6035040" y="4480558"/>
            <a:ext cx="2834640" cy="434342"/>
          </a:xfrm>
          <a:prstGeom prst="rect">
            <a:avLst/>
          </a:prstGeom>
          <a:noFill/>
          <a:ln/>
        </p:spPr>
        <p:txBody>
          <a:bodyPr wrap="square" rtlCol="0" anchor="ctr"/>
          <a:lstStyle/>
          <a:p>
            <a:pPr marL="0" indent="0">
              <a:buNone/>
            </a:pPr>
            <a:r>
              <a:rPr lang="en-US" sz="1000" i="1" dirty="0">
                <a:solidFill>
                  <a:srgbClr val="595959"/>
                </a:solidFill>
                <a:latin typeface="Calibri" pitchFamily="34" charset="0"/>
                <a:ea typeface="Calibri" pitchFamily="34" charset="-122"/>
                <a:cs typeface="Calibri" pitchFamily="34" charset="-120"/>
              </a:rPr>
              <a:t>Next step: operational audit of top 10-15 sellers - shipping speed, packaging, post-sale communication.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Four Recommendations</a:t>
            </a:r>
            <a:endParaRPr lang="en-US" sz="2200" dirty="0"/>
          </a:p>
        </p:txBody>
      </p:sp>
      <p:sp>
        <p:nvSpPr>
          <p:cNvPr id="3" name="Text 1"/>
          <p:cNvSpPr/>
          <p:nvPr/>
        </p:nvSpPr>
        <p:spPr>
          <a:xfrm>
            <a:off x="457200" y="658368"/>
            <a:ext cx="8229600" cy="27432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Ranked by how directly the data supports each one.</a:t>
            </a:r>
            <a:endParaRPr lang="en-US" sz="1200" dirty="0"/>
          </a:p>
        </p:txBody>
      </p:sp>
      <p:sp>
        <p:nvSpPr>
          <p:cNvPr id="4" name="Shape 2"/>
          <p:cNvSpPr/>
          <p:nvPr/>
        </p:nvSpPr>
        <p:spPr>
          <a:xfrm>
            <a:off x="365760" y="1097280"/>
            <a:ext cx="4160520" cy="1691640"/>
          </a:xfrm>
          <a:prstGeom prst="roundRect">
            <a:avLst>
              <a:gd name="adj" fmla="val 5405"/>
            </a:avLst>
          </a:prstGeom>
          <a:solidFill>
            <a:srgbClr val="1F3864"/>
          </a:solidFill>
          <a:ln w="12700">
            <a:solidFill>
              <a:srgbClr val="1F3864"/>
            </a:solidFill>
            <a:prstDash val="solid"/>
          </a:ln>
          <a:effectLst>
            <a:outerShdw blurRad="101600" dist="25400" dir="2700000" algn="bl" rotWithShape="0">
              <a:srgbClr val="000000">
                <a:alpha val="10000"/>
              </a:srgbClr>
            </a:outerShdw>
          </a:effectLst>
        </p:spPr>
      </p:sp>
      <p:sp>
        <p:nvSpPr>
          <p:cNvPr id="5" name="Text 3"/>
          <p:cNvSpPr/>
          <p:nvPr/>
        </p:nvSpPr>
        <p:spPr>
          <a:xfrm>
            <a:off x="475488" y="1188720"/>
            <a:ext cx="411480" cy="411480"/>
          </a:xfrm>
          <a:prstGeom prst="rect">
            <a:avLst/>
          </a:prstGeom>
          <a:noFill/>
          <a:ln/>
        </p:spPr>
        <p:txBody>
          <a:bodyPr wrap="square" rtlCol="0" anchor="ctr"/>
          <a:lstStyle/>
          <a:p>
            <a:pPr marL="0" indent="0">
              <a:buNone/>
            </a:pPr>
            <a:r>
              <a:rPr lang="en-US" sz="1800" b="1" dirty="0">
                <a:solidFill>
                  <a:srgbClr val="CADCFC"/>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914400" y="1188720"/>
            <a:ext cx="34747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Launch a day 55-65 reactivation campaign</a:t>
            </a:r>
            <a:endParaRPr lang="en-US" sz="1200" dirty="0"/>
          </a:p>
        </p:txBody>
      </p:sp>
      <p:sp>
        <p:nvSpPr>
          <p:cNvPr id="7" name="Text 5"/>
          <p:cNvSpPr/>
          <p:nvPr/>
        </p:nvSpPr>
        <p:spPr>
          <a:xfrm>
            <a:off x="502920" y="1645920"/>
            <a:ext cx="3886200" cy="1005840"/>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Automated email or offer 55-65 days after first order. Targets customers before the 81-day window closes. Data-backed, specific timing.</a:t>
            </a:r>
            <a:endParaRPr lang="en-US" sz="1050" dirty="0"/>
          </a:p>
        </p:txBody>
      </p:sp>
      <p:sp>
        <p:nvSpPr>
          <p:cNvPr id="8" name="Shape 6"/>
          <p:cNvSpPr/>
          <p:nvPr/>
        </p:nvSpPr>
        <p:spPr>
          <a:xfrm>
            <a:off x="4709160" y="1097280"/>
            <a:ext cx="4160520" cy="1691640"/>
          </a:xfrm>
          <a:prstGeom prst="roundRect">
            <a:avLst>
              <a:gd name="adj" fmla="val 5405"/>
            </a:avLst>
          </a:prstGeom>
          <a:solidFill>
            <a:srgbClr val="FFFFFF"/>
          </a:solidFill>
          <a:ln w="12700">
            <a:solidFill>
              <a:srgbClr val="FFFFFF"/>
            </a:solidFill>
            <a:prstDash val="solid"/>
          </a:ln>
          <a:effectLst>
            <a:outerShdw blurRad="101600" dist="25400" dir="2700000" algn="bl" rotWithShape="0">
              <a:srgbClr val="000000">
                <a:alpha val="10000"/>
              </a:srgbClr>
            </a:outerShdw>
          </a:effectLst>
        </p:spPr>
      </p:sp>
      <p:sp>
        <p:nvSpPr>
          <p:cNvPr id="9" name="Text 7"/>
          <p:cNvSpPr/>
          <p:nvPr/>
        </p:nvSpPr>
        <p:spPr>
          <a:xfrm>
            <a:off x="4818888" y="1188720"/>
            <a:ext cx="411480" cy="411480"/>
          </a:xfrm>
          <a:prstGeom prst="rect">
            <a:avLst/>
          </a:prstGeom>
          <a:noFill/>
          <a:ln/>
        </p:spPr>
        <p:txBody>
          <a:bodyPr wrap="square" rtlCol="0" anchor="ctr"/>
          <a:lstStyle/>
          <a:p>
            <a:pPr marL="0" indent="0">
              <a:buNone/>
            </a:pPr>
            <a:r>
              <a:rPr lang="en-US" sz="1800" b="1" dirty="0">
                <a:solidFill>
                  <a:srgbClr val="2F5496"/>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5257800" y="1188720"/>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Test gifting and shared-use messaging</a:t>
            </a:r>
            <a:endParaRPr lang="en-US" sz="1200" dirty="0"/>
          </a:p>
        </p:txBody>
      </p:sp>
      <p:sp>
        <p:nvSpPr>
          <p:cNvPr id="11" name="Text 9"/>
          <p:cNvSpPr/>
          <p:nvPr/>
        </p:nvSpPr>
        <p:spPr>
          <a:xfrm>
            <a:off x="4846320" y="1645920"/>
            <a:ext cx="3886200" cy="1005840"/>
          </a:xfrm>
          <a:prstGeom prst="rect">
            <a:avLst/>
          </a:prstGeom>
          <a:noFill/>
          <a:ln/>
        </p:spPr>
        <p:txBody>
          <a:bodyPr wrap="square" rtlCol="0" anchor="ctr"/>
          <a:lstStyle/>
          <a:p>
            <a:pPr marL="0" indent="0">
              <a:buNone/>
            </a:pPr>
            <a:r>
              <a:rPr lang="en-US" sz="1050" dirty="0">
                <a:solidFill>
                  <a:srgbClr val="595959"/>
                </a:solidFill>
                <a:latin typeface="Calibri" pitchFamily="34" charset="0"/>
                <a:ea typeface="Calibri" pitchFamily="34" charset="-122"/>
                <a:cs typeface="Calibri" pitchFamily="34" charset="-120"/>
              </a:rPr>
              <a:t>Pilot 'family package' or 'refer a friend' promotions. Hypothesis: repeaters buy for others, not themselves. Needs survey validation before scaling.</a:t>
            </a:r>
            <a:endParaRPr lang="en-US" sz="1050" dirty="0"/>
          </a:p>
        </p:txBody>
      </p:sp>
      <p:sp>
        <p:nvSpPr>
          <p:cNvPr id="12" name="Shape 10"/>
          <p:cNvSpPr/>
          <p:nvPr/>
        </p:nvSpPr>
        <p:spPr>
          <a:xfrm>
            <a:off x="365760" y="3017520"/>
            <a:ext cx="4160520" cy="1691640"/>
          </a:xfrm>
          <a:prstGeom prst="roundRect">
            <a:avLst>
              <a:gd name="adj" fmla="val 5405"/>
            </a:avLst>
          </a:prstGeom>
          <a:solidFill>
            <a:srgbClr val="FFFFFF"/>
          </a:solidFill>
          <a:ln w="12700">
            <a:solidFill>
              <a:srgbClr val="FFFFFF"/>
            </a:solidFill>
            <a:prstDash val="solid"/>
          </a:ln>
          <a:effectLst>
            <a:outerShdw blurRad="101600" dist="25400" dir="2700000" algn="bl" rotWithShape="0">
              <a:srgbClr val="000000">
                <a:alpha val="10000"/>
              </a:srgbClr>
            </a:outerShdw>
          </a:effectLst>
        </p:spPr>
      </p:sp>
      <p:sp>
        <p:nvSpPr>
          <p:cNvPr id="13" name="Text 11"/>
          <p:cNvSpPr/>
          <p:nvPr/>
        </p:nvSpPr>
        <p:spPr>
          <a:xfrm>
            <a:off x="475488" y="3108960"/>
            <a:ext cx="411480" cy="411480"/>
          </a:xfrm>
          <a:prstGeom prst="rect">
            <a:avLst/>
          </a:prstGeom>
          <a:noFill/>
          <a:ln/>
        </p:spPr>
        <p:txBody>
          <a:bodyPr wrap="square" rtlCol="0" anchor="ctr"/>
          <a:lstStyle/>
          <a:p>
            <a:pPr marL="0" indent="0">
              <a:buNone/>
            </a:pPr>
            <a:r>
              <a:rPr lang="en-US" sz="1800" b="1" dirty="0">
                <a:solidFill>
                  <a:srgbClr val="2F5496"/>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914400" y="3108960"/>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Audit high-retention sellers</a:t>
            </a:r>
            <a:endParaRPr lang="en-US" sz="1200" dirty="0"/>
          </a:p>
        </p:txBody>
      </p:sp>
      <p:sp>
        <p:nvSpPr>
          <p:cNvPr id="15" name="Text 13"/>
          <p:cNvSpPr/>
          <p:nvPr/>
        </p:nvSpPr>
        <p:spPr>
          <a:xfrm>
            <a:off x="502920" y="3566160"/>
            <a:ext cx="3886200" cy="1005840"/>
          </a:xfrm>
          <a:prstGeom prst="rect">
            <a:avLst/>
          </a:prstGeom>
          <a:noFill/>
          <a:ln/>
        </p:spPr>
        <p:txBody>
          <a:bodyPr wrap="square" rtlCol="0" anchor="ctr"/>
          <a:lstStyle/>
          <a:p>
            <a:pPr marL="0" indent="0">
              <a:buNone/>
            </a:pPr>
            <a:r>
              <a:rPr lang="en-US" sz="1050" dirty="0">
                <a:solidFill>
                  <a:srgbClr val="595959"/>
                </a:solidFill>
                <a:latin typeface="Calibri" pitchFamily="34" charset="0"/>
                <a:ea typeface="Calibri" pitchFamily="34" charset="-122"/>
                <a:cs typeface="Calibri" pitchFamily="34" charset="-120"/>
              </a:rPr>
              <a:t>Operational review of top 15 sellers by repeat rate. Identify what they do differently. Build that into a platform-wide practice.</a:t>
            </a:r>
            <a:endParaRPr lang="en-US" sz="1050" dirty="0"/>
          </a:p>
        </p:txBody>
      </p:sp>
      <p:sp>
        <p:nvSpPr>
          <p:cNvPr id="16" name="Shape 14"/>
          <p:cNvSpPr/>
          <p:nvPr/>
        </p:nvSpPr>
        <p:spPr>
          <a:xfrm>
            <a:off x="4709160" y="3017520"/>
            <a:ext cx="4160520" cy="1691640"/>
          </a:xfrm>
          <a:prstGeom prst="roundRect">
            <a:avLst>
              <a:gd name="adj" fmla="val 5405"/>
            </a:avLst>
          </a:prstGeom>
          <a:solidFill>
            <a:srgbClr val="FFFFFF"/>
          </a:solidFill>
          <a:ln w="12700">
            <a:solidFill>
              <a:srgbClr val="FFFFFF"/>
            </a:solidFill>
            <a:prstDash val="solid"/>
          </a:ln>
          <a:effectLst>
            <a:outerShdw blurRad="101600" dist="25400" dir="2700000" algn="bl" rotWithShape="0">
              <a:srgbClr val="000000">
                <a:alpha val="10000"/>
              </a:srgbClr>
            </a:outerShdw>
          </a:effectLst>
        </p:spPr>
      </p:sp>
      <p:sp>
        <p:nvSpPr>
          <p:cNvPr id="17" name="Text 15"/>
          <p:cNvSpPr/>
          <p:nvPr/>
        </p:nvSpPr>
        <p:spPr>
          <a:xfrm>
            <a:off x="4818888" y="3108960"/>
            <a:ext cx="411480" cy="411480"/>
          </a:xfrm>
          <a:prstGeom prst="rect">
            <a:avLst/>
          </a:prstGeom>
          <a:noFill/>
          <a:ln/>
        </p:spPr>
        <p:txBody>
          <a:bodyPr wrap="square" rtlCol="0" anchor="ctr"/>
          <a:lstStyle/>
          <a:p>
            <a:pPr marL="0" indent="0">
              <a:buNone/>
            </a:pPr>
            <a:r>
              <a:rPr lang="en-US" sz="1800" b="1" dirty="0">
                <a:solidFill>
                  <a:srgbClr val="2F5496"/>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5257800" y="3108960"/>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Do not invest in product or service fixes for retention</a:t>
            </a:r>
            <a:endParaRPr lang="en-US" sz="1200" dirty="0"/>
          </a:p>
        </p:txBody>
      </p:sp>
      <p:sp>
        <p:nvSpPr>
          <p:cNvPr id="19" name="Text 17"/>
          <p:cNvSpPr/>
          <p:nvPr/>
        </p:nvSpPr>
        <p:spPr>
          <a:xfrm>
            <a:off x="4846320" y="3566160"/>
            <a:ext cx="3886200" cy="1005840"/>
          </a:xfrm>
          <a:prstGeom prst="rect">
            <a:avLst/>
          </a:prstGeom>
          <a:noFill/>
          <a:ln/>
        </p:spPr>
        <p:txBody>
          <a:bodyPr wrap="square" rtlCol="0" anchor="ctr"/>
          <a:lstStyle/>
          <a:p>
            <a:pPr marL="0" indent="0">
              <a:buNone/>
            </a:pPr>
            <a:r>
              <a:rPr lang="en-US" sz="1050" dirty="0">
                <a:solidFill>
                  <a:srgbClr val="595959"/>
                </a:solidFill>
                <a:latin typeface="Calibri" pitchFamily="34" charset="0"/>
                <a:ea typeface="Calibri" pitchFamily="34" charset="-122"/>
                <a:cs typeface="Calibri" pitchFamily="34" charset="-120"/>
              </a:rPr>
              <a:t>Review scores and category mix are nearly identical between groups. Spending here to drive retention is not supported by the data.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896</Words>
  <Application>Microsoft Office PowerPoint</Application>
  <PresentationFormat>On-screen Show (16:9)</PresentationFormat>
  <Paragraphs>86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Olist Customer Retention Analysis</dc:title>
  <dc:subject>PptxGenJS Presentation</dc:subject>
  <dc:creator>Victoria Johnson</dc:creator>
  <cp:lastModifiedBy>Vicky Johnson</cp:lastModifiedBy>
  <cp:revision>4</cp:revision>
  <dcterms:created xsi:type="dcterms:W3CDTF">2026-07-05T02:23:53Z</dcterms:created>
  <dcterms:modified xsi:type="dcterms:W3CDTF">2026-07-17T09:09:17Z</dcterms:modified>
</cp:coreProperties>
</file>